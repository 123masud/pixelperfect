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4"/>
    <p:sldId id="260" r:id="rId5"/>
    <p:sldId id="259" r:id="rId6"/>
    <p:sldId id="271" r:id="rId7"/>
    <p:sldId id="261" r:id="rId8"/>
    <p:sldId id="262" r:id="rId9"/>
    <p:sldId id="263" r:id="rId10"/>
    <p:sldId id="264" r:id="rId11"/>
    <p:sldId id="266" r:id="rId12"/>
    <p:sldId id="269" r:id="rId13"/>
    <p:sldId id="268" r:id="rId14"/>
    <p:sldId id="267" r:id="rId15"/>
    <p:sldId id="272" r:id="rId16"/>
    <p:sldId id="270" r:id="rId17"/>
    <p:sldId id="273" r:id="rId18"/>
    <p:sldId id="276"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2"/>
    <p:restoredTop sz="96327"/>
  </p:normalViewPr>
  <p:slideViewPr>
    <p:cSldViewPr snapToGrid="0">
      <p:cViewPr>
        <p:scale>
          <a:sx n="91" d="100"/>
          <a:sy n="91" d="100"/>
        </p:scale>
        <p:origin x="2432" y="1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image" Target="../media/image18.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FF6C-3FC9-8677-5ED6-A2CC74E332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D01E8F-0569-FFF0-042A-EEFAB94E2D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65AE38-4CFD-3B65-B676-69921D494A95}"/>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5" name="Footer Placeholder 4">
            <a:extLst>
              <a:ext uri="{FF2B5EF4-FFF2-40B4-BE49-F238E27FC236}">
                <a16:creationId xmlns:a16="http://schemas.microsoft.com/office/drawing/2014/main" id="{D0D39165-F77F-C476-63CC-F5B823EE31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9415A-7C85-8061-F826-DDB9F6A6CA04}"/>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3330030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C5CB6-7D5D-7A45-1318-D9E73AD6A7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00C958-FBAD-8BA9-342D-FCD18C32B5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89CF21-9057-0D7E-8958-7F3CB454FD54}"/>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5" name="Footer Placeholder 4">
            <a:extLst>
              <a:ext uri="{FF2B5EF4-FFF2-40B4-BE49-F238E27FC236}">
                <a16:creationId xmlns:a16="http://schemas.microsoft.com/office/drawing/2014/main" id="{F6B48711-6BE4-B9CF-D0E4-E777716312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5A52E9-FCD4-C890-0A68-9C89AC09FC1B}"/>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1407753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2767-A21C-86CA-C1B4-A76E48F16C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B3F5EB-BCEE-88AC-0AD0-E70EC67D2E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2C0682-0109-9AB8-578F-000E051E8EE6}"/>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5" name="Footer Placeholder 4">
            <a:extLst>
              <a:ext uri="{FF2B5EF4-FFF2-40B4-BE49-F238E27FC236}">
                <a16:creationId xmlns:a16="http://schemas.microsoft.com/office/drawing/2014/main" id="{854F5340-ED18-A5F1-4989-B1216E5F1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F485C-FEFF-2EF4-C08C-EA6B3337D72D}"/>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384275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89D4-ADD9-8F17-126C-8D98A77726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9C4515-E51D-5A0D-322C-D61B5F0F6B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7E82B9-0B86-0729-18BF-A5FB3F205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FEEEE2-A8A0-0B3A-AF32-DA2D58AC2ADF}"/>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6" name="Footer Placeholder 5">
            <a:extLst>
              <a:ext uri="{FF2B5EF4-FFF2-40B4-BE49-F238E27FC236}">
                <a16:creationId xmlns:a16="http://schemas.microsoft.com/office/drawing/2014/main" id="{5EC686D1-AE00-1061-18D7-F80187FE95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2A4958-752F-DB49-268C-65DC206B7E35}"/>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17644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36A0F-0635-4853-BAEB-94A63CF69C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925A83-3697-61C9-12B4-32A1BC1B98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6F3A66-656F-A58F-40A4-38079DCBEC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481028-7E7D-C464-AA5C-A71053E657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C3ACD5-B189-B7F1-2CC0-932C793E4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0813AA-EDDB-2880-719F-8BD64522FC19}"/>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8" name="Footer Placeholder 7">
            <a:extLst>
              <a:ext uri="{FF2B5EF4-FFF2-40B4-BE49-F238E27FC236}">
                <a16:creationId xmlns:a16="http://schemas.microsoft.com/office/drawing/2014/main" id="{D3E33608-EAC1-6EA0-DD0A-1283340B99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ADF74A-8BCC-16F7-07A8-B12740489888}"/>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2028079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9BD19-4CB9-AE70-C19D-2A20CB656F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B9433B-9E24-3CAC-1B15-D7495359C604}"/>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4" name="Footer Placeholder 3">
            <a:extLst>
              <a:ext uri="{FF2B5EF4-FFF2-40B4-BE49-F238E27FC236}">
                <a16:creationId xmlns:a16="http://schemas.microsoft.com/office/drawing/2014/main" id="{7BD8A644-DFBD-1F6C-BFDA-563D71DAC9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F480CD-4DD5-F449-A4E5-5BAD27020F29}"/>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269636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16DEF9-088E-A21E-62BE-8FCF3E0F0DA0}"/>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3" name="Footer Placeholder 2">
            <a:extLst>
              <a:ext uri="{FF2B5EF4-FFF2-40B4-BE49-F238E27FC236}">
                <a16:creationId xmlns:a16="http://schemas.microsoft.com/office/drawing/2014/main" id="{527B933F-F31D-017D-4239-5CEDF44FF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4D7916-1222-098B-7B2B-0D5C43170AFA}"/>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2505312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DA11A-3139-198D-ABE6-5684DB8C5B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69177B-39EF-8D67-1256-0486931E6E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66D6F9-C8A1-AC3A-71D1-70A9E0150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057217-A2EE-B6A2-E847-B776760130DD}"/>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6" name="Footer Placeholder 5">
            <a:extLst>
              <a:ext uri="{FF2B5EF4-FFF2-40B4-BE49-F238E27FC236}">
                <a16:creationId xmlns:a16="http://schemas.microsoft.com/office/drawing/2014/main" id="{B2D57800-A6CA-3831-E67E-5CB5BF881B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78665-D71D-6047-453C-D4285689669B}"/>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238911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60D0-9C2D-A4E2-26D2-38235EFE1D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CAED13-B6FD-6A0A-4680-5FC817825F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E742B6-5952-8BD4-9F24-9495878AB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7283C-5552-8993-8E90-4878ECF93BCC}"/>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6" name="Footer Placeholder 5">
            <a:extLst>
              <a:ext uri="{FF2B5EF4-FFF2-40B4-BE49-F238E27FC236}">
                <a16:creationId xmlns:a16="http://schemas.microsoft.com/office/drawing/2014/main" id="{2ED7AB34-EA28-D67C-32C2-402819D1DF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44B428-9E3B-3764-D0F1-AD4645693BAA}"/>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3514415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BD083-B497-3579-147F-6BB052B112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4E8519-350A-264F-E522-312C03BA4F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AE5C0A-A91B-0B7F-5B3C-21ABCCEBA459}"/>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5" name="Footer Placeholder 4">
            <a:extLst>
              <a:ext uri="{FF2B5EF4-FFF2-40B4-BE49-F238E27FC236}">
                <a16:creationId xmlns:a16="http://schemas.microsoft.com/office/drawing/2014/main" id="{64D1E458-04AF-05A8-CD39-F96ACABCE2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4BDEF9-859E-0ED9-7C35-CDC6FA86A9AE}"/>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271613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AE393F-4306-14B7-9799-8988CF2BC9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CA583A-E325-51F0-7003-D647AB74CF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3EEBC-EC2A-8608-CEBB-05CED8013CB8}"/>
              </a:ext>
            </a:extLst>
          </p:cNvPr>
          <p:cNvSpPr>
            <a:spLocks noGrp="1"/>
          </p:cNvSpPr>
          <p:nvPr>
            <p:ph type="dt" sz="half" idx="10"/>
          </p:nvPr>
        </p:nvSpPr>
        <p:spPr/>
        <p:txBody>
          <a:bodyPr/>
          <a:lstStyle/>
          <a:p>
            <a:fld id="{61512C65-CB29-1B45-805D-7C086FE65E8F}" type="datetimeFigureOut">
              <a:rPr lang="en-US" smtClean="0"/>
              <a:t>10/26/22</a:t>
            </a:fld>
            <a:endParaRPr lang="en-US"/>
          </a:p>
        </p:txBody>
      </p:sp>
      <p:sp>
        <p:nvSpPr>
          <p:cNvPr id="5" name="Footer Placeholder 4">
            <a:extLst>
              <a:ext uri="{FF2B5EF4-FFF2-40B4-BE49-F238E27FC236}">
                <a16:creationId xmlns:a16="http://schemas.microsoft.com/office/drawing/2014/main" id="{7ECD727D-F87F-D739-84F7-B9D393ED7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A5ECF-0487-99B6-55FA-6CAE5F5BB868}"/>
              </a:ext>
            </a:extLst>
          </p:cNvPr>
          <p:cNvSpPr>
            <a:spLocks noGrp="1"/>
          </p:cNvSpPr>
          <p:nvPr>
            <p:ph type="sldNum" sz="quarter" idx="12"/>
          </p:nvPr>
        </p:nvSpPr>
        <p:spPr/>
        <p:txBody>
          <a:bodyPr/>
          <a:lstStyle/>
          <a:p>
            <a:fld id="{D3AB0962-7CDC-D140-BFB3-BAE6D8CF398D}" type="slidenum">
              <a:rPr lang="en-US" smtClean="0"/>
              <a:t>‹#›</a:t>
            </a:fld>
            <a:endParaRPr lang="en-US"/>
          </a:p>
        </p:txBody>
      </p:sp>
    </p:spTree>
    <p:extLst>
      <p:ext uri="{BB962C8B-B14F-4D97-AF65-F5344CB8AC3E}">
        <p14:creationId xmlns:p14="http://schemas.microsoft.com/office/powerpoint/2010/main" val="572231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A80CB9-91E4-EE3C-0514-4357DCD2A4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BBDAFF-C082-2342-50AE-D537EA2CF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29E37-1902-B124-4372-7CC643ECC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12C65-CB29-1B45-805D-7C086FE65E8F}" type="datetimeFigureOut">
              <a:rPr lang="en-US" smtClean="0"/>
              <a:t>10/26/22</a:t>
            </a:fld>
            <a:endParaRPr lang="en-US"/>
          </a:p>
        </p:txBody>
      </p:sp>
      <p:sp>
        <p:nvSpPr>
          <p:cNvPr id="5" name="Footer Placeholder 4">
            <a:extLst>
              <a:ext uri="{FF2B5EF4-FFF2-40B4-BE49-F238E27FC236}">
                <a16:creationId xmlns:a16="http://schemas.microsoft.com/office/drawing/2014/main" id="{CD4AEEF0-87C0-510C-71D2-6E6E77AB9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1F9889-B9B9-3BA3-AC35-16375CDE94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B0962-7CDC-D140-BFB3-BAE6D8CF398D}" type="slidenum">
              <a:rPr lang="en-US" smtClean="0"/>
              <a:t>‹#›</a:t>
            </a:fld>
            <a:endParaRPr lang="en-US"/>
          </a:p>
        </p:txBody>
      </p:sp>
    </p:spTree>
    <p:extLst>
      <p:ext uri="{BB962C8B-B14F-4D97-AF65-F5344CB8AC3E}">
        <p14:creationId xmlns:p14="http://schemas.microsoft.com/office/powerpoint/2010/main" val="456161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model-manager.appl.kp.o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microsoft.com/office/2007/relationships/hdphoto" Target="../media/hdphoto2.wdp"/><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png"/><Relationship Id="rId5" Type="http://schemas.microsoft.com/office/2007/relationships/hdphoto" Target="../media/hdphoto3.wdp"/><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7AC2EE-A255-FBBA-BC79-347A0FEEEB96}"/>
              </a:ext>
            </a:extLst>
          </p:cNvPr>
          <p:cNvSpPr txBox="1"/>
          <p:nvPr/>
        </p:nvSpPr>
        <p:spPr>
          <a:xfrm>
            <a:off x="526593" y="5469564"/>
            <a:ext cx="6956854" cy="369332"/>
          </a:xfrm>
          <a:prstGeom prst="rect">
            <a:avLst/>
          </a:prstGeom>
          <a:noFill/>
        </p:spPr>
        <p:txBody>
          <a:bodyPr wrap="square" rtlCol="0">
            <a:spAutoFit/>
          </a:bodyPr>
          <a:lstStyle/>
          <a:p>
            <a:r>
              <a:rPr lang="en-US" dirty="0">
                <a:latin typeface="Avenir Light" panose="020B0402020203020204" pitchFamily="34" charset="77"/>
              </a:rPr>
              <a:t>&lt;Use Case Name here&gt;</a:t>
            </a:r>
          </a:p>
        </p:txBody>
      </p:sp>
      <p:sp>
        <p:nvSpPr>
          <p:cNvPr id="8" name="TextBox 7">
            <a:extLst>
              <a:ext uri="{FF2B5EF4-FFF2-40B4-BE49-F238E27FC236}">
                <a16:creationId xmlns:a16="http://schemas.microsoft.com/office/drawing/2014/main" id="{E16C526D-391D-DC7F-5AE5-4AA105A85095}"/>
              </a:ext>
            </a:extLst>
          </p:cNvPr>
          <p:cNvSpPr txBox="1"/>
          <p:nvPr/>
        </p:nvSpPr>
        <p:spPr>
          <a:xfrm>
            <a:off x="526593" y="6214923"/>
            <a:ext cx="6956854" cy="369332"/>
          </a:xfrm>
          <a:prstGeom prst="rect">
            <a:avLst/>
          </a:prstGeom>
          <a:noFill/>
        </p:spPr>
        <p:txBody>
          <a:bodyPr wrap="square" rtlCol="0">
            <a:spAutoFit/>
          </a:bodyPr>
          <a:lstStyle/>
          <a:p>
            <a:r>
              <a:rPr lang="en-US" dirty="0">
                <a:latin typeface="Avenir Light" panose="020B0402020203020204" pitchFamily="34" charset="77"/>
              </a:rPr>
              <a:t>Model Governance Report as of &lt; October 25</a:t>
            </a:r>
            <a:r>
              <a:rPr lang="en-US" baseline="30000" dirty="0">
                <a:latin typeface="Avenir Light" panose="020B0402020203020204" pitchFamily="34" charset="77"/>
              </a:rPr>
              <a:t>th</a:t>
            </a:r>
            <a:r>
              <a:rPr lang="en-US" dirty="0">
                <a:latin typeface="Avenir Light" panose="020B0402020203020204" pitchFamily="34" charset="77"/>
              </a:rPr>
              <a:t> 2022&gt; </a:t>
            </a:r>
          </a:p>
        </p:txBody>
      </p:sp>
      <p:pic>
        <p:nvPicPr>
          <p:cNvPr id="9" name="Picture 8">
            <a:extLst>
              <a:ext uri="{FF2B5EF4-FFF2-40B4-BE49-F238E27FC236}">
                <a16:creationId xmlns:a16="http://schemas.microsoft.com/office/drawing/2014/main" id="{724119BC-66F2-1984-AC39-95293BED0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pic>
        <p:nvPicPr>
          <p:cNvPr id="11" name="Picture 10">
            <a:extLst>
              <a:ext uri="{FF2B5EF4-FFF2-40B4-BE49-F238E27FC236}">
                <a16:creationId xmlns:a16="http://schemas.microsoft.com/office/drawing/2014/main" id="{6D0AE990-4C9A-A803-9CD8-38FA311E68B5}"/>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Lst>
          </a:blip>
          <a:srcRect l="2611" t="25064" r="-609"/>
          <a:stretch/>
        </p:blipFill>
        <p:spPr>
          <a:xfrm>
            <a:off x="-1" y="0"/>
            <a:ext cx="12279087" cy="5271751"/>
          </a:xfrm>
          <a:prstGeom prst="rect">
            <a:avLst/>
          </a:prstGeom>
        </p:spPr>
      </p:pic>
    </p:spTree>
    <p:extLst>
      <p:ext uri="{BB962C8B-B14F-4D97-AF65-F5344CB8AC3E}">
        <p14:creationId xmlns:p14="http://schemas.microsoft.com/office/powerpoint/2010/main" val="3875451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9EA928-A815-E68F-3C59-0620B5C621AA}"/>
              </a:ext>
            </a:extLst>
          </p:cNvPr>
          <p:cNvSpPr/>
          <p:nvPr/>
        </p:nvSpPr>
        <p:spPr>
          <a:xfrm>
            <a:off x="0" y="0"/>
            <a:ext cx="8209722" cy="6858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effectLst/>
            </a:endParaRPr>
          </a:p>
        </p:txBody>
      </p:sp>
      <p:sp>
        <p:nvSpPr>
          <p:cNvPr id="5" name="TextBox 4">
            <a:extLst>
              <a:ext uri="{FF2B5EF4-FFF2-40B4-BE49-F238E27FC236}">
                <a16:creationId xmlns:a16="http://schemas.microsoft.com/office/drawing/2014/main" id="{FB51A9D9-799A-38FD-8EF4-B99EC08B8AE0}"/>
              </a:ext>
            </a:extLst>
          </p:cNvPr>
          <p:cNvSpPr txBox="1"/>
          <p:nvPr/>
        </p:nvSpPr>
        <p:spPr>
          <a:xfrm>
            <a:off x="407504" y="377687"/>
            <a:ext cx="2454966" cy="923330"/>
          </a:xfrm>
          <a:prstGeom prst="rect">
            <a:avLst/>
          </a:prstGeom>
          <a:noFill/>
        </p:spPr>
        <p:txBody>
          <a:bodyPr wrap="square" rtlCol="0">
            <a:spAutoFit/>
          </a:bodyPr>
          <a:lstStyle/>
          <a:p>
            <a:r>
              <a:rPr lang="en-US" sz="1800" b="1" dirty="0">
                <a:solidFill>
                  <a:srgbClr val="FFFFFF"/>
                </a:solidFill>
                <a:effectLst/>
                <a:latin typeface="IBMPlexSans"/>
              </a:rPr>
              <a:t>Executive Report </a:t>
            </a:r>
            <a:endParaRPr lang="en-US" dirty="0">
              <a:effectLst/>
            </a:endParaRPr>
          </a:p>
          <a:p>
            <a:r>
              <a:rPr lang="en-US" sz="1800" b="0" dirty="0">
                <a:solidFill>
                  <a:srgbClr val="FFFFFF"/>
                </a:solidFill>
                <a:effectLst/>
                <a:latin typeface="IBMPlexSans"/>
              </a:rPr>
              <a:t>Model Governance </a:t>
            </a:r>
            <a:endParaRPr lang="en-US" dirty="0">
              <a:effectLst/>
            </a:endParaRPr>
          </a:p>
          <a:p>
            <a:endParaRPr lang="en-US" dirty="0"/>
          </a:p>
        </p:txBody>
      </p:sp>
      <p:sp>
        <p:nvSpPr>
          <p:cNvPr id="8" name="TextBox 7">
            <a:extLst>
              <a:ext uri="{FF2B5EF4-FFF2-40B4-BE49-F238E27FC236}">
                <a16:creationId xmlns:a16="http://schemas.microsoft.com/office/drawing/2014/main" id="{2E2AAFEE-FE9E-E7F6-F141-8902D3D9057B}"/>
              </a:ext>
            </a:extLst>
          </p:cNvPr>
          <p:cNvSpPr txBox="1"/>
          <p:nvPr/>
        </p:nvSpPr>
        <p:spPr>
          <a:xfrm>
            <a:off x="8370538" y="1301017"/>
            <a:ext cx="3356202" cy="2154436"/>
          </a:xfrm>
          <a:prstGeom prst="rect">
            <a:avLst/>
          </a:prstGeom>
          <a:noFill/>
        </p:spPr>
        <p:txBody>
          <a:bodyPr wrap="square">
            <a:spAutoFit/>
          </a:bodyPr>
          <a:lstStyle/>
          <a:p>
            <a:r>
              <a:rPr lang="en-US" sz="2400" b="0" i="1" dirty="0">
                <a:effectLst/>
                <a:latin typeface="IBMPlexSans"/>
              </a:rPr>
              <a:t>In this report </a:t>
            </a:r>
            <a:endParaRPr lang="en-US" sz="1100" dirty="0">
              <a:effectLst/>
            </a:endParaRPr>
          </a:p>
          <a:p>
            <a:endParaRPr lang="en-US" sz="1100" i="1" dirty="0">
              <a:effectLst/>
              <a:latin typeface="IBMPlexSans"/>
            </a:endParaRPr>
          </a:p>
          <a:p>
            <a:r>
              <a:rPr lang="en-US" sz="1100" i="1" dirty="0">
                <a:effectLst/>
                <a:latin typeface="IBMPlexSans"/>
              </a:rPr>
              <a:t>Details about the model governance analysis done on the &lt;use case name&gt; .</a:t>
            </a:r>
          </a:p>
          <a:p>
            <a:endParaRPr lang="en-US" sz="1100" i="1" dirty="0">
              <a:latin typeface="IBMPlexSans"/>
            </a:endParaRPr>
          </a:p>
          <a:p>
            <a:r>
              <a:rPr lang="en-US" sz="1100" i="1" dirty="0">
                <a:effectLst/>
                <a:latin typeface="IBMPlexSans"/>
              </a:rPr>
              <a:t>This report is based on the framework of model governance published by &lt;</a:t>
            </a:r>
            <a:r>
              <a:rPr lang="en-US" sz="1100" i="1" dirty="0" err="1">
                <a:effectLst/>
                <a:latin typeface="IBMPlexSans"/>
              </a:rPr>
              <a:t>Qausal</a:t>
            </a:r>
            <a:r>
              <a:rPr lang="en-US" sz="1100" i="1" dirty="0">
                <a:effectLst/>
                <a:latin typeface="IBMPlexSans"/>
              </a:rPr>
              <a:t> AI&gt;</a:t>
            </a:r>
          </a:p>
          <a:p>
            <a:endParaRPr lang="en-US" sz="1100" i="1" dirty="0">
              <a:latin typeface="IBMPlexSans"/>
            </a:endParaRPr>
          </a:p>
          <a:p>
            <a:endParaRPr lang="en-US" sz="1100" i="1" dirty="0">
              <a:effectLst/>
              <a:latin typeface="IBMPlexSans"/>
            </a:endParaRPr>
          </a:p>
          <a:p>
            <a:endParaRPr lang="en-US" sz="1100" i="1" dirty="0">
              <a:latin typeface="IBMPlexSans"/>
            </a:endParaRPr>
          </a:p>
          <a:p>
            <a:endParaRPr lang="en-US" sz="1100" i="1" dirty="0">
              <a:effectLst/>
              <a:latin typeface="IBMPlexSans"/>
            </a:endParaRPr>
          </a:p>
        </p:txBody>
      </p:sp>
      <p:sp>
        <p:nvSpPr>
          <p:cNvPr id="9" name="TextBox 8">
            <a:extLst>
              <a:ext uri="{FF2B5EF4-FFF2-40B4-BE49-F238E27FC236}">
                <a16:creationId xmlns:a16="http://schemas.microsoft.com/office/drawing/2014/main" id="{96509AA3-61CB-50F2-3C46-F772C704A18B}"/>
              </a:ext>
            </a:extLst>
          </p:cNvPr>
          <p:cNvSpPr txBox="1"/>
          <p:nvPr/>
        </p:nvSpPr>
        <p:spPr>
          <a:xfrm>
            <a:off x="322045" y="3338717"/>
            <a:ext cx="6121483" cy="2123658"/>
          </a:xfrm>
          <a:prstGeom prst="rect">
            <a:avLst/>
          </a:prstGeom>
          <a:noFill/>
        </p:spPr>
        <p:txBody>
          <a:bodyPr wrap="square" rtlCol="0">
            <a:spAutoFit/>
          </a:bodyPr>
          <a:lstStyle/>
          <a:p>
            <a:r>
              <a:rPr lang="en-US" sz="1800" b="1" dirty="0">
                <a:solidFill>
                  <a:srgbClr val="FFFFFF"/>
                </a:solidFill>
                <a:effectLst/>
                <a:latin typeface="IBMPlexSans"/>
              </a:rPr>
              <a:t>How </a:t>
            </a:r>
            <a:r>
              <a:rPr lang="en-US" sz="1800" b="1" dirty="0" err="1">
                <a:solidFill>
                  <a:srgbClr val="FFFFFF"/>
                </a:solidFill>
                <a:effectLst/>
                <a:latin typeface="IBMPlexSans"/>
              </a:rPr>
              <a:t>Qausal</a:t>
            </a:r>
            <a:r>
              <a:rPr lang="en-US" sz="1800" b="1" dirty="0">
                <a:solidFill>
                  <a:srgbClr val="FFFFFF"/>
                </a:solidFill>
                <a:effectLst/>
                <a:latin typeface="IBMPlexSans"/>
              </a:rPr>
              <a:t> AI can help </a:t>
            </a:r>
          </a:p>
          <a:p>
            <a:endParaRPr lang="en-US" dirty="0">
              <a:effectLst/>
            </a:endParaRPr>
          </a:p>
          <a:p>
            <a:r>
              <a:rPr lang="en-US" sz="1600" b="0" i="0" dirty="0" err="1">
                <a:solidFill>
                  <a:schemeClr val="bg1"/>
                </a:solidFill>
                <a:effectLst/>
                <a:latin typeface="Arial" panose="020B0604020202020204" pitchFamily="34" charset="0"/>
              </a:rPr>
              <a:t>Qausal</a:t>
            </a:r>
            <a:r>
              <a:rPr lang="en-US" sz="1600" b="0" i="0" dirty="0">
                <a:solidFill>
                  <a:schemeClr val="bg1"/>
                </a:solidFill>
                <a:effectLst/>
                <a:latin typeface="Arial" panose="020B0604020202020204" pitchFamily="34" charset="0"/>
              </a:rPr>
              <a:t> AI is building the first comprehensive model </a:t>
            </a:r>
            <a:br>
              <a:rPr lang="en-US" sz="1600" dirty="0">
                <a:solidFill>
                  <a:schemeClr val="bg1"/>
                </a:solidFill>
              </a:rPr>
            </a:br>
            <a:r>
              <a:rPr lang="en-US" sz="1600" b="0" i="0" dirty="0">
                <a:solidFill>
                  <a:schemeClr val="bg1"/>
                </a:solidFill>
                <a:effectLst/>
                <a:latin typeface="Arial" panose="020B0604020202020204" pitchFamily="34" charset="0"/>
              </a:rPr>
              <a:t>governance framework for managing models. </a:t>
            </a:r>
            <a:r>
              <a:rPr lang="en-US" sz="1600" b="0" i="0" dirty="0" err="1">
                <a:solidFill>
                  <a:schemeClr val="bg1"/>
                </a:solidFill>
                <a:effectLst/>
                <a:latin typeface="Arial" panose="020B0604020202020204" pitchFamily="34" charset="0"/>
              </a:rPr>
              <a:t>Qausal’s</a:t>
            </a:r>
            <a:br>
              <a:rPr lang="en-US" sz="1600" dirty="0">
                <a:solidFill>
                  <a:schemeClr val="bg1"/>
                </a:solidFill>
              </a:rPr>
            </a:br>
            <a:r>
              <a:rPr lang="en-US" sz="1600" b="0" i="0" dirty="0">
                <a:solidFill>
                  <a:schemeClr val="bg1"/>
                </a:solidFill>
                <a:effectLst/>
                <a:latin typeface="Arial" panose="020B0604020202020204" pitchFamily="34" charset="0"/>
              </a:rPr>
              <a:t>model management platform provides a model inventory </a:t>
            </a:r>
            <a:br>
              <a:rPr lang="en-US" sz="1600" dirty="0">
                <a:solidFill>
                  <a:schemeClr val="bg1"/>
                </a:solidFill>
              </a:rPr>
            </a:br>
            <a:r>
              <a:rPr lang="en-US" sz="1600" b="0" i="0" dirty="0">
                <a:solidFill>
                  <a:schemeClr val="bg1"/>
                </a:solidFill>
                <a:effectLst/>
                <a:latin typeface="Arial" panose="020B0604020202020204" pitchFamily="34" charset="0"/>
              </a:rPr>
              <a:t>for all models, a simulation platform for what-if analysis, </a:t>
            </a:r>
            <a:br>
              <a:rPr lang="en-US" sz="1600" dirty="0">
                <a:solidFill>
                  <a:schemeClr val="bg1"/>
                </a:solidFill>
              </a:rPr>
            </a:br>
            <a:r>
              <a:rPr lang="en-US" sz="1600" b="0" i="0" dirty="0">
                <a:solidFill>
                  <a:schemeClr val="bg1"/>
                </a:solidFill>
                <a:effectLst/>
                <a:latin typeface="Arial" panose="020B0604020202020204" pitchFamily="34" charset="0"/>
              </a:rPr>
              <a:t>and monitoring of the outcomes. For more information, </a:t>
            </a:r>
            <a:br>
              <a:rPr lang="en-US" sz="1600" dirty="0">
                <a:solidFill>
                  <a:schemeClr val="bg1"/>
                </a:solidFill>
              </a:rPr>
            </a:br>
            <a:r>
              <a:rPr lang="en-US" sz="1600" b="0" i="0" dirty="0">
                <a:solidFill>
                  <a:schemeClr val="bg1"/>
                </a:solidFill>
                <a:effectLst/>
                <a:latin typeface="Arial" panose="020B0604020202020204" pitchFamily="34" charset="0"/>
              </a:rPr>
              <a:t>please visit https://</a:t>
            </a:r>
            <a:r>
              <a:rPr lang="en-US" sz="1600" b="0" i="0" dirty="0" err="1">
                <a:solidFill>
                  <a:schemeClr val="bg1"/>
                </a:solidFill>
                <a:effectLst/>
                <a:latin typeface="Arial" panose="020B0604020202020204" pitchFamily="34" charset="0"/>
              </a:rPr>
              <a:t>www.qausal.ai</a:t>
            </a:r>
            <a:r>
              <a:rPr lang="en-US" sz="1600" b="0" i="0" dirty="0">
                <a:solidFill>
                  <a:schemeClr val="bg1"/>
                </a:solidFill>
                <a:effectLst/>
                <a:latin typeface="Arial" panose="020B0604020202020204" pitchFamily="34" charset="0"/>
              </a:rPr>
              <a:t>/product.</a:t>
            </a:r>
            <a:endParaRPr lang="en-US" sz="1600" dirty="0">
              <a:solidFill>
                <a:schemeClr val="bg1"/>
              </a:solidFill>
            </a:endParaRPr>
          </a:p>
        </p:txBody>
      </p:sp>
      <p:pic>
        <p:nvPicPr>
          <p:cNvPr id="10" name="Picture 9">
            <a:extLst>
              <a:ext uri="{FF2B5EF4-FFF2-40B4-BE49-F238E27FC236}">
                <a16:creationId xmlns:a16="http://schemas.microsoft.com/office/drawing/2014/main" id="{349FD546-F3C0-605F-0B76-AC85A8B062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Tree>
    <p:extLst>
      <p:ext uri="{BB962C8B-B14F-4D97-AF65-F5344CB8AC3E}">
        <p14:creationId xmlns:p14="http://schemas.microsoft.com/office/powerpoint/2010/main" val="2870395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BDBD958-DF1E-74D7-49AF-9B9AB9E286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7074" y="6351009"/>
            <a:ext cx="1215390" cy="238125"/>
          </a:xfrm>
          <a:prstGeom prst="rect">
            <a:avLst/>
          </a:prstGeom>
        </p:spPr>
      </p:pic>
      <p:cxnSp>
        <p:nvCxnSpPr>
          <p:cNvPr id="11" name="Straight Connector 10">
            <a:extLst>
              <a:ext uri="{FF2B5EF4-FFF2-40B4-BE49-F238E27FC236}">
                <a16:creationId xmlns:a16="http://schemas.microsoft.com/office/drawing/2014/main" id="{65F0D1F9-5706-A569-C76C-6A465AB7EDB3}"/>
              </a:ext>
            </a:extLst>
          </p:cNvPr>
          <p:cNvCxnSpPr>
            <a:cxnSpLocks/>
          </p:cNvCxnSpPr>
          <p:nvPr/>
        </p:nvCxnSpPr>
        <p:spPr>
          <a:xfrm flipV="1">
            <a:off x="383059" y="683740"/>
            <a:ext cx="4000934" cy="205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DE7A6906-3781-1B3E-90A3-7B6C26261938}"/>
              </a:ext>
            </a:extLst>
          </p:cNvPr>
          <p:cNvCxnSpPr>
            <a:cxnSpLocks/>
          </p:cNvCxnSpPr>
          <p:nvPr/>
        </p:nvCxnSpPr>
        <p:spPr>
          <a:xfrm flipV="1">
            <a:off x="5119221" y="663145"/>
            <a:ext cx="6696092" cy="20595"/>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DA3654C3-7752-BCB2-59F1-5EFAC9AE998F}"/>
              </a:ext>
            </a:extLst>
          </p:cNvPr>
          <p:cNvSpPr txBox="1"/>
          <p:nvPr/>
        </p:nvSpPr>
        <p:spPr>
          <a:xfrm>
            <a:off x="5264499" y="819406"/>
            <a:ext cx="1931059" cy="369332"/>
          </a:xfrm>
          <a:prstGeom prst="rect">
            <a:avLst/>
          </a:prstGeom>
          <a:noFill/>
        </p:spPr>
        <p:txBody>
          <a:bodyPr wrap="square">
            <a:spAutoFit/>
          </a:bodyPr>
          <a:lstStyle/>
          <a:p>
            <a:r>
              <a:rPr lang="en-US" b="1" dirty="0">
                <a:solidFill>
                  <a:srgbClr val="7030A0"/>
                </a:solidFill>
                <a:effectLst/>
                <a:latin typeface="DejaVuSans"/>
              </a:rPr>
              <a:t>Recommendation</a:t>
            </a:r>
            <a:endParaRPr lang="en-US" sz="1400" dirty="0">
              <a:solidFill>
                <a:srgbClr val="7030A0"/>
              </a:solidFill>
              <a:effectLst/>
            </a:endParaRPr>
          </a:p>
        </p:txBody>
      </p:sp>
      <p:sp>
        <p:nvSpPr>
          <p:cNvPr id="18" name="TextBox 17">
            <a:extLst>
              <a:ext uri="{FF2B5EF4-FFF2-40B4-BE49-F238E27FC236}">
                <a16:creationId xmlns:a16="http://schemas.microsoft.com/office/drawing/2014/main" id="{923E3887-2D42-4FC8-0FAB-03A27DBBAADF}"/>
              </a:ext>
            </a:extLst>
          </p:cNvPr>
          <p:cNvSpPr txBox="1"/>
          <p:nvPr/>
        </p:nvSpPr>
        <p:spPr>
          <a:xfrm>
            <a:off x="8904718" y="815562"/>
            <a:ext cx="2734891" cy="369332"/>
          </a:xfrm>
          <a:prstGeom prst="rect">
            <a:avLst/>
          </a:prstGeom>
          <a:noFill/>
        </p:spPr>
        <p:txBody>
          <a:bodyPr wrap="square">
            <a:spAutoFit/>
          </a:bodyPr>
          <a:lstStyle/>
          <a:p>
            <a:r>
              <a:rPr lang="en-US" b="1" dirty="0">
                <a:solidFill>
                  <a:srgbClr val="7030A0"/>
                </a:solidFill>
                <a:latin typeface="DejaVuSans"/>
              </a:rPr>
              <a:t>Governance Report Date</a:t>
            </a:r>
          </a:p>
        </p:txBody>
      </p:sp>
      <p:pic>
        <p:nvPicPr>
          <p:cNvPr id="19" name="Picture 18">
            <a:extLst>
              <a:ext uri="{FF2B5EF4-FFF2-40B4-BE49-F238E27FC236}">
                <a16:creationId xmlns:a16="http://schemas.microsoft.com/office/drawing/2014/main" id="{D6D61BC5-E93F-97F6-276C-0F9A562E4860}"/>
              </a:ext>
            </a:extLst>
          </p:cNvPr>
          <p:cNvPicPr>
            <a:picLocks noChangeAspect="1"/>
          </p:cNvPicPr>
          <p:nvPr/>
        </p:nvPicPr>
        <p:blipFill>
          <a:blip r:embed="rId3"/>
          <a:stretch>
            <a:fillRect/>
          </a:stretch>
        </p:blipFill>
        <p:spPr>
          <a:xfrm>
            <a:off x="5264499" y="2285141"/>
            <a:ext cx="6357643" cy="3320832"/>
          </a:xfrm>
          <a:prstGeom prst="rect">
            <a:avLst/>
          </a:prstGeom>
        </p:spPr>
      </p:pic>
      <p:sp>
        <p:nvSpPr>
          <p:cNvPr id="21" name="TextBox 20">
            <a:extLst>
              <a:ext uri="{FF2B5EF4-FFF2-40B4-BE49-F238E27FC236}">
                <a16:creationId xmlns:a16="http://schemas.microsoft.com/office/drawing/2014/main" id="{2713138C-E2AD-77A3-6D53-6FD6B27A694B}"/>
              </a:ext>
            </a:extLst>
          </p:cNvPr>
          <p:cNvSpPr txBox="1"/>
          <p:nvPr/>
        </p:nvSpPr>
        <p:spPr>
          <a:xfrm>
            <a:off x="5323462" y="1179756"/>
            <a:ext cx="1813132" cy="369332"/>
          </a:xfrm>
          <a:prstGeom prst="rect">
            <a:avLst/>
          </a:prstGeom>
          <a:noFill/>
        </p:spPr>
        <p:txBody>
          <a:bodyPr wrap="square" rtlCol="0">
            <a:spAutoFit/>
          </a:bodyPr>
          <a:lstStyle/>
          <a:p>
            <a:r>
              <a:rPr lang="en-US" dirty="0">
                <a:solidFill>
                  <a:schemeClr val="accent1"/>
                </a:solidFill>
              </a:rPr>
              <a:t>Retrain Model</a:t>
            </a:r>
          </a:p>
        </p:txBody>
      </p:sp>
      <p:sp>
        <p:nvSpPr>
          <p:cNvPr id="23" name="TextBox 22">
            <a:extLst>
              <a:ext uri="{FF2B5EF4-FFF2-40B4-BE49-F238E27FC236}">
                <a16:creationId xmlns:a16="http://schemas.microsoft.com/office/drawing/2014/main" id="{44FFB51B-6467-B8C2-19AD-5482FB849837}"/>
              </a:ext>
            </a:extLst>
          </p:cNvPr>
          <p:cNvSpPr txBox="1"/>
          <p:nvPr/>
        </p:nvSpPr>
        <p:spPr>
          <a:xfrm>
            <a:off x="383059" y="3321871"/>
            <a:ext cx="4394040" cy="2646878"/>
          </a:xfrm>
          <a:prstGeom prst="rect">
            <a:avLst/>
          </a:prstGeom>
          <a:noFill/>
        </p:spPr>
        <p:txBody>
          <a:bodyPr wrap="square" rtlCol="0">
            <a:spAutoFit/>
          </a:bodyPr>
          <a:lstStyle/>
          <a:p>
            <a:r>
              <a:rPr lang="en-US" b="1" dirty="0">
                <a:solidFill>
                  <a:srgbClr val="7030A0"/>
                </a:solidFill>
                <a:effectLst/>
                <a:latin typeface="DejaVuSans"/>
              </a:rPr>
              <a:t>Model Details</a:t>
            </a:r>
            <a:endParaRPr lang="en-US" sz="1400" dirty="0">
              <a:solidFill>
                <a:srgbClr val="7030A0"/>
              </a:solidFill>
              <a:effectLst/>
            </a:endParaRPr>
          </a:p>
          <a:p>
            <a:endParaRPr lang="en-US" dirty="0">
              <a:solidFill>
                <a:schemeClr val="accent1"/>
              </a:solidFill>
              <a:latin typeface="Avenir Book" panose="02000503020000020003" pitchFamily="2" charset="0"/>
            </a:endParaRPr>
          </a:p>
          <a:p>
            <a:r>
              <a:rPr lang="en-US" sz="1400" b="1" dirty="0">
                <a:solidFill>
                  <a:schemeClr val="accent1"/>
                </a:solidFill>
                <a:effectLst/>
                <a:latin typeface="Avenir Book" panose="02000503020000020003" pitchFamily="2" charset="0"/>
              </a:rPr>
              <a:t>Model Owner : </a:t>
            </a:r>
            <a:r>
              <a:rPr lang="en-US" sz="1400" b="1" dirty="0">
                <a:solidFill>
                  <a:schemeClr val="accent1"/>
                </a:solidFill>
                <a:latin typeface="Avenir Book" panose="02000503020000020003" pitchFamily="2" charset="0"/>
              </a:rPr>
              <a:t>&lt;name &gt;</a:t>
            </a:r>
            <a:br>
              <a:rPr lang="en-US" sz="1400" dirty="0">
                <a:solidFill>
                  <a:schemeClr val="accent1"/>
                </a:solidFill>
                <a:effectLst/>
                <a:latin typeface="Avenir Book" panose="02000503020000020003" pitchFamily="2" charset="0"/>
              </a:rPr>
            </a:br>
            <a:r>
              <a:rPr lang="en-US" sz="1400" b="1" dirty="0">
                <a:solidFill>
                  <a:schemeClr val="accent1"/>
                </a:solidFill>
                <a:effectLst/>
                <a:latin typeface="Avenir Book" panose="02000503020000020003" pitchFamily="2" charset="0"/>
              </a:rPr>
              <a:t>Model Developer : </a:t>
            </a:r>
            <a:r>
              <a:rPr lang="en-US" sz="1400" b="1" dirty="0">
                <a:solidFill>
                  <a:schemeClr val="accent1"/>
                </a:solidFill>
                <a:latin typeface="Avenir Book" panose="02000503020000020003" pitchFamily="2" charset="0"/>
              </a:rPr>
              <a:t>&lt;names of developers &gt;</a:t>
            </a:r>
            <a:r>
              <a:rPr lang="en-US" sz="1400" b="1" dirty="0">
                <a:solidFill>
                  <a:schemeClr val="accent1"/>
                </a:solidFill>
                <a:effectLst/>
                <a:latin typeface="Avenir Book" panose="02000503020000020003" pitchFamily="2" charset="0"/>
              </a:rPr>
              <a:t> </a:t>
            </a:r>
            <a:br>
              <a:rPr lang="en-US" sz="1400" b="1" dirty="0">
                <a:solidFill>
                  <a:schemeClr val="accent1"/>
                </a:solidFill>
                <a:effectLst/>
                <a:latin typeface="Avenir Book" panose="02000503020000020003" pitchFamily="2" charset="0"/>
              </a:rPr>
            </a:br>
            <a:r>
              <a:rPr lang="en-US" sz="1400" b="1" dirty="0">
                <a:solidFill>
                  <a:schemeClr val="accent1"/>
                </a:solidFill>
                <a:effectLst/>
                <a:latin typeface="Avenir Book" panose="02000503020000020003" pitchFamily="2" charset="0"/>
              </a:rPr>
              <a:t>Model Approver : </a:t>
            </a:r>
            <a:r>
              <a:rPr lang="en-US" sz="1400" b="1" dirty="0">
                <a:solidFill>
                  <a:schemeClr val="accent1"/>
                </a:solidFill>
                <a:latin typeface="Avenir Book" panose="02000503020000020003" pitchFamily="2" charset="0"/>
              </a:rPr>
              <a:t>&lt;names&gt;</a:t>
            </a:r>
            <a:br>
              <a:rPr lang="en-US" sz="1400" b="1" dirty="0">
                <a:solidFill>
                  <a:schemeClr val="accent1"/>
                </a:solidFill>
                <a:effectLst/>
                <a:latin typeface="Avenir Book" panose="02000503020000020003" pitchFamily="2" charset="0"/>
              </a:rPr>
            </a:br>
            <a:r>
              <a:rPr lang="en-US" sz="1400" b="1" dirty="0">
                <a:solidFill>
                  <a:schemeClr val="accent1"/>
                </a:solidFill>
                <a:effectLst/>
                <a:latin typeface="Avenir Book" panose="02000503020000020003" pitchFamily="2" charset="0"/>
              </a:rPr>
              <a:t>Model User : </a:t>
            </a:r>
            <a:r>
              <a:rPr lang="en-US" sz="1400" b="1" dirty="0">
                <a:solidFill>
                  <a:schemeClr val="accent1"/>
                </a:solidFill>
                <a:latin typeface="Avenir Book" panose="02000503020000020003" pitchFamily="2" charset="0"/>
              </a:rPr>
              <a:t>&lt;name &gt;</a:t>
            </a:r>
            <a:endParaRPr lang="en-US" sz="1400" b="1" dirty="0">
              <a:solidFill>
                <a:schemeClr val="accent1"/>
              </a:solidFill>
              <a:effectLst/>
              <a:latin typeface="Avenir Book" panose="02000503020000020003" pitchFamily="2" charset="0"/>
            </a:endParaRPr>
          </a:p>
          <a:p>
            <a:r>
              <a:rPr lang="en-US" sz="1400" b="1" dirty="0">
                <a:solidFill>
                  <a:schemeClr val="accent1"/>
                </a:solidFill>
                <a:effectLst/>
                <a:latin typeface="Avenir Book" panose="02000503020000020003" pitchFamily="2" charset="0"/>
              </a:rPr>
              <a:t>Model Maintenance Team : </a:t>
            </a:r>
          </a:p>
          <a:p>
            <a:r>
              <a:rPr lang="en-US" sz="1400" b="1" dirty="0">
                <a:solidFill>
                  <a:schemeClr val="accent1"/>
                </a:solidFill>
                <a:latin typeface="Avenir Book" panose="02000503020000020003" pitchFamily="2" charset="0"/>
              </a:rPr>
              <a:t>Model Approval Date:</a:t>
            </a:r>
            <a:br>
              <a:rPr lang="en-US" sz="1400" b="1" dirty="0">
                <a:solidFill>
                  <a:schemeClr val="accent1"/>
                </a:solidFill>
                <a:latin typeface="Avenir Book" panose="02000503020000020003" pitchFamily="2" charset="0"/>
              </a:rPr>
            </a:br>
            <a:r>
              <a:rPr lang="en-US" sz="1400" b="1" dirty="0">
                <a:solidFill>
                  <a:schemeClr val="accent1"/>
                </a:solidFill>
                <a:latin typeface="Avenir Book" panose="02000503020000020003" pitchFamily="2" charset="0"/>
              </a:rPr>
              <a:t>Last Model Validation Date: </a:t>
            </a:r>
            <a:br>
              <a:rPr lang="en-US" sz="1400" b="1" dirty="0">
                <a:solidFill>
                  <a:schemeClr val="accent1"/>
                </a:solidFill>
                <a:latin typeface="Avenir Book" panose="02000503020000020003" pitchFamily="2" charset="0"/>
              </a:rPr>
            </a:br>
            <a:r>
              <a:rPr lang="en-US" sz="1400" b="1" dirty="0">
                <a:solidFill>
                  <a:schemeClr val="accent1"/>
                </a:solidFill>
                <a:latin typeface="Avenir Book" panose="02000503020000020003" pitchFamily="2" charset="0"/>
              </a:rPr>
              <a:t>Last Model Monitoring Date: </a:t>
            </a:r>
          </a:p>
          <a:p>
            <a:endParaRPr lang="en-US" dirty="0"/>
          </a:p>
        </p:txBody>
      </p:sp>
      <p:sp>
        <p:nvSpPr>
          <p:cNvPr id="25" name="TextBox 24">
            <a:extLst>
              <a:ext uri="{FF2B5EF4-FFF2-40B4-BE49-F238E27FC236}">
                <a16:creationId xmlns:a16="http://schemas.microsoft.com/office/drawing/2014/main" id="{D7D0E5DC-6490-77B5-C097-EEE320347425}"/>
              </a:ext>
            </a:extLst>
          </p:cNvPr>
          <p:cNvSpPr txBox="1"/>
          <p:nvPr/>
        </p:nvSpPr>
        <p:spPr>
          <a:xfrm>
            <a:off x="383059" y="800218"/>
            <a:ext cx="4522227" cy="2092881"/>
          </a:xfrm>
          <a:prstGeom prst="rect">
            <a:avLst/>
          </a:prstGeom>
          <a:noFill/>
        </p:spPr>
        <p:txBody>
          <a:bodyPr wrap="square">
            <a:spAutoFit/>
          </a:bodyPr>
          <a:lstStyle/>
          <a:p>
            <a:r>
              <a:rPr lang="en-US" b="1" dirty="0">
                <a:solidFill>
                  <a:srgbClr val="7030A0"/>
                </a:solidFill>
                <a:latin typeface="DejaVuSans"/>
              </a:rPr>
              <a:t>Use Case Summary</a:t>
            </a:r>
          </a:p>
          <a:p>
            <a:endParaRPr lang="en-US" sz="1400" dirty="0">
              <a:latin typeface="Avenir Book" panose="02000503020000020003" pitchFamily="2" charset="0"/>
            </a:endParaRPr>
          </a:p>
          <a:p>
            <a:r>
              <a:rPr lang="en-US" sz="1400" dirty="0">
                <a:effectLst/>
                <a:latin typeface="Avenir Book" panose="02000503020000020003" pitchFamily="2" charset="0"/>
              </a:rPr>
              <a:t>Wine is one of the most popular alcoholic drinks which has been used for thousands of years. Wine is produced by fermenting grapes. Relabeling cheaper wines to the popular and expensive brands and counterfeiting are also common frauds in the wine domain. Different modern approaches have been used … </a:t>
            </a:r>
            <a:r>
              <a:rPr lang="en-US" sz="1400" dirty="0">
                <a:effectLst/>
                <a:latin typeface="Avenir Book" panose="02000503020000020003" pitchFamily="2" charset="0"/>
                <a:hlinkClick r:id="rId4"/>
              </a:rPr>
              <a:t>more</a:t>
            </a:r>
            <a:r>
              <a:rPr lang="en-US" sz="1400" dirty="0">
                <a:effectLst/>
                <a:latin typeface="Avenir Book" panose="02000503020000020003" pitchFamily="2" charset="0"/>
              </a:rPr>
              <a:t> </a:t>
            </a:r>
            <a:endParaRPr lang="en-US" sz="1400" dirty="0"/>
          </a:p>
        </p:txBody>
      </p:sp>
      <p:sp>
        <p:nvSpPr>
          <p:cNvPr id="26" name="TextBox 25">
            <a:extLst>
              <a:ext uri="{FF2B5EF4-FFF2-40B4-BE49-F238E27FC236}">
                <a16:creationId xmlns:a16="http://schemas.microsoft.com/office/drawing/2014/main" id="{812C028A-EE61-8BE0-E339-29D76F2D8C2C}"/>
              </a:ext>
            </a:extLst>
          </p:cNvPr>
          <p:cNvSpPr txBox="1"/>
          <p:nvPr/>
        </p:nvSpPr>
        <p:spPr>
          <a:xfrm>
            <a:off x="9005275" y="1188738"/>
            <a:ext cx="1813132" cy="369332"/>
          </a:xfrm>
          <a:prstGeom prst="rect">
            <a:avLst/>
          </a:prstGeom>
          <a:noFill/>
        </p:spPr>
        <p:txBody>
          <a:bodyPr wrap="square" rtlCol="0">
            <a:spAutoFit/>
          </a:bodyPr>
          <a:lstStyle/>
          <a:p>
            <a:r>
              <a:rPr lang="en-US" dirty="0">
                <a:solidFill>
                  <a:schemeClr val="accent1"/>
                </a:solidFill>
              </a:rPr>
              <a:t>10/26/2022</a:t>
            </a:r>
          </a:p>
        </p:txBody>
      </p:sp>
      <p:sp>
        <p:nvSpPr>
          <p:cNvPr id="27" name="TextBox 26">
            <a:extLst>
              <a:ext uri="{FF2B5EF4-FFF2-40B4-BE49-F238E27FC236}">
                <a16:creationId xmlns:a16="http://schemas.microsoft.com/office/drawing/2014/main" id="{EB23897F-C3CD-4225-BAFC-0EDD6F24B167}"/>
              </a:ext>
            </a:extLst>
          </p:cNvPr>
          <p:cNvSpPr txBox="1"/>
          <p:nvPr/>
        </p:nvSpPr>
        <p:spPr>
          <a:xfrm rot="19702436">
            <a:off x="6463772" y="3299226"/>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1701139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FB6EE2-FC80-ACFB-4AD8-4CAEE4D522A5}"/>
              </a:ext>
            </a:extLst>
          </p:cNvPr>
          <p:cNvSpPr txBox="1"/>
          <p:nvPr/>
        </p:nvSpPr>
        <p:spPr>
          <a:xfrm>
            <a:off x="370704" y="1028343"/>
            <a:ext cx="3039762" cy="646331"/>
          </a:xfrm>
          <a:prstGeom prst="rect">
            <a:avLst/>
          </a:prstGeom>
          <a:noFill/>
        </p:spPr>
        <p:txBody>
          <a:bodyPr wrap="square" rtlCol="0">
            <a:spAutoFit/>
          </a:bodyPr>
          <a:lstStyle/>
          <a:p>
            <a:r>
              <a:rPr lang="en-US" sz="1800" dirty="0">
                <a:solidFill>
                  <a:srgbClr val="4270C1"/>
                </a:solidFill>
                <a:effectLst/>
                <a:latin typeface="DejaVuSans"/>
              </a:rPr>
              <a:t>Model Management Details</a:t>
            </a:r>
            <a:endParaRPr lang="en-US" dirty="0"/>
          </a:p>
          <a:p>
            <a:endParaRPr lang="en-US" dirty="0"/>
          </a:p>
        </p:txBody>
      </p:sp>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383059" y="704335"/>
            <a:ext cx="270613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3719384" y="683740"/>
            <a:ext cx="8155459"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9BDBD958-DF1E-74D7-49AF-9B9AB9E286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9225" y="6394389"/>
            <a:ext cx="1215390" cy="238125"/>
          </a:xfrm>
          <a:prstGeom prst="rect">
            <a:avLst/>
          </a:prstGeom>
        </p:spPr>
      </p:pic>
      <p:pic>
        <p:nvPicPr>
          <p:cNvPr id="1026" name="Picture 2" descr="page3image51078912">
            <a:extLst>
              <a:ext uri="{FF2B5EF4-FFF2-40B4-BE49-F238E27FC236}">
                <a16:creationId xmlns:a16="http://schemas.microsoft.com/office/drawing/2014/main" id="{66B312DE-9689-E0FD-4B67-F635F391C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325563"/>
            <a:ext cx="1562100" cy="254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3image51084944">
            <a:extLst>
              <a:ext uri="{FF2B5EF4-FFF2-40B4-BE49-F238E27FC236}">
                <a16:creationId xmlns:a16="http://schemas.microsoft.com/office/drawing/2014/main" id="{89069E70-E624-EE9F-8AD7-9DC27E0A9B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025" y="1325563"/>
            <a:ext cx="7137400" cy="25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3image51069968">
            <a:extLst>
              <a:ext uri="{FF2B5EF4-FFF2-40B4-BE49-F238E27FC236}">
                <a16:creationId xmlns:a16="http://schemas.microsoft.com/office/drawing/2014/main" id="{A2EF46BF-AA91-E856-9329-C2554C4F26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9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3image51073088">
            <a:extLst>
              <a:ext uri="{FF2B5EF4-FFF2-40B4-BE49-F238E27FC236}">
                <a16:creationId xmlns:a16="http://schemas.microsoft.com/office/drawing/2014/main" id="{FCACA3BB-EFCF-A692-DF3B-875ED7AE22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17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3image51073296">
            <a:extLst>
              <a:ext uri="{FF2B5EF4-FFF2-40B4-BE49-F238E27FC236}">
                <a16:creationId xmlns:a16="http://schemas.microsoft.com/office/drawing/2014/main" id="{88A025C3-2CA0-2A29-6C1D-F2D5BE7C5C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83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3image51078704">
            <a:extLst>
              <a:ext uri="{FF2B5EF4-FFF2-40B4-BE49-F238E27FC236}">
                <a16:creationId xmlns:a16="http://schemas.microsoft.com/office/drawing/2014/main" id="{1F69DAF5-7E47-4F9B-494E-B2F52A9902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61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3image51076208">
            <a:extLst>
              <a:ext uri="{FF2B5EF4-FFF2-40B4-BE49-F238E27FC236}">
                <a16:creationId xmlns:a16="http://schemas.microsoft.com/office/drawing/2014/main" id="{E94DB49C-547D-312A-02F2-F65C2D1145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27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3image51077040">
            <a:extLst>
              <a:ext uri="{FF2B5EF4-FFF2-40B4-BE49-F238E27FC236}">
                <a16:creationId xmlns:a16="http://schemas.microsoft.com/office/drawing/2014/main" id="{6C978375-46C5-3160-BD5A-894CD1F77A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05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ge3image51083280">
            <a:extLst>
              <a:ext uri="{FF2B5EF4-FFF2-40B4-BE49-F238E27FC236}">
                <a16:creationId xmlns:a16="http://schemas.microsoft.com/office/drawing/2014/main" id="{1682ED69-989A-E043-783C-1E3D5017EC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71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page3image51080368">
            <a:extLst>
              <a:ext uri="{FF2B5EF4-FFF2-40B4-BE49-F238E27FC236}">
                <a16:creationId xmlns:a16="http://schemas.microsoft.com/office/drawing/2014/main" id="{4284133F-0660-97D4-EA84-19B79BAB7A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49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ge3image51081616">
            <a:extLst>
              <a:ext uri="{FF2B5EF4-FFF2-40B4-BE49-F238E27FC236}">
                <a16:creationId xmlns:a16="http://schemas.microsoft.com/office/drawing/2014/main" id="{0B610906-4E6F-861E-06B4-CA899B54C8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15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page3image51070176">
            <a:extLst>
              <a:ext uri="{FF2B5EF4-FFF2-40B4-BE49-F238E27FC236}">
                <a16:creationId xmlns:a16="http://schemas.microsoft.com/office/drawing/2014/main" id="{E2117E1B-FE57-AF90-9C3B-FA1105D268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93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ge3image51070592">
            <a:extLst>
              <a:ext uri="{FF2B5EF4-FFF2-40B4-BE49-F238E27FC236}">
                <a16:creationId xmlns:a16="http://schemas.microsoft.com/office/drawing/2014/main" id="{AEB74A77-7D1C-10D4-CCF9-2245997765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59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age3image51083488">
            <a:extLst>
              <a:ext uri="{FF2B5EF4-FFF2-40B4-BE49-F238E27FC236}">
                <a16:creationId xmlns:a16="http://schemas.microsoft.com/office/drawing/2014/main" id="{9D96B505-20CE-CAC4-3F76-71F5D54481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37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age3image51076000">
            <a:extLst>
              <a:ext uri="{FF2B5EF4-FFF2-40B4-BE49-F238E27FC236}">
                <a16:creationId xmlns:a16="http://schemas.microsoft.com/office/drawing/2014/main" id="{4332E08C-88F8-4E35-A5FA-B759437173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03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page3image51078496">
            <a:extLst>
              <a:ext uri="{FF2B5EF4-FFF2-40B4-BE49-F238E27FC236}">
                <a16:creationId xmlns:a16="http://schemas.microsoft.com/office/drawing/2014/main" id="{8D011D68-410B-2848-B1CA-DDD9F56AA3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681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page3image51077872">
            <a:extLst>
              <a:ext uri="{FF2B5EF4-FFF2-40B4-BE49-F238E27FC236}">
                <a16:creationId xmlns:a16="http://schemas.microsoft.com/office/drawing/2014/main" id="{2C1BFE8E-B71B-0129-1B67-7092E3AA3F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47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page3image51077248">
            <a:extLst>
              <a:ext uri="{FF2B5EF4-FFF2-40B4-BE49-F238E27FC236}">
                <a16:creationId xmlns:a16="http://schemas.microsoft.com/office/drawing/2014/main" id="{92F48125-FA26-9411-898C-D55FDE7256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25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page3image51075584">
            <a:extLst>
              <a:ext uri="{FF2B5EF4-FFF2-40B4-BE49-F238E27FC236}">
                <a16:creationId xmlns:a16="http://schemas.microsoft.com/office/drawing/2014/main" id="{AA446E06-F583-0A21-7E19-904F6121E3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91225"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page3image51078288">
            <a:extLst>
              <a:ext uri="{FF2B5EF4-FFF2-40B4-BE49-F238E27FC236}">
                <a16:creationId xmlns:a16="http://schemas.microsoft.com/office/drawing/2014/main" id="{B53C61AB-9AA5-B8F4-40F5-7287B7D23C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69225"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page3image51082864">
            <a:extLst>
              <a:ext uri="{FF2B5EF4-FFF2-40B4-BE49-F238E27FC236}">
                <a16:creationId xmlns:a16="http://schemas.microsoft.com/office/drawing/2014/main" id="{189E4513-CF1B-8F32-A0A4-ABEF3A4D20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335225" y="1325563"/>
            <a:ext cx="12700" cy="1625600"/>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descr="page3image51072048">
            <a:extLst>
              <a:ext uri="{FF2B5EF4-FFF2-40B4-BE49-F238E27FC236}">
                <a16:creationId xmlns:a16="http://schemas.microsoft.com/office/drawing/2014/main" id="{67011932-89A1-6113-42AA-B4DFD04587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86088"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page3image51077664">
            <a:extLst>
              <a:ext uri="{FF2B5EF4-FFF2-40B4-BE49-F238E27FC236}">
                <a16:creationId xmlns:a16="http://schemas.microsoft.com/office/drawing/2014/main" id="{D63EFAA7-7954-2A1A-149C-A24DD661C4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664088"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25" descr="page3image51076832">
            <a:extLst>
              <a:ext uri="{FF2B5EF4-FFF2-40B4-BE49-F238E27FC236}">
                <a16:creationId xmlns:a16="http://schemas.microsoft.com/office/drawing/2014/main" id="{6682FFB6-4E3E-0B5B-7571-8F24962C7F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030088"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page3image51071008">
            <a:extLst>
              <a:ext uri="{FF2B5EF4-FFF2-40B4-BE49-F238E27FC236}">
                <a16:creationId xmlns:a16="http://schemas.microsoft.com/office/drawing/2014/main" id="{CA091038-113B-F660-C3A2-FDC9639517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08088"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1" name="Picture 27" descr="page3image51071216">
            <a:extLst>
              <a:ext uri="{FF2B5EF4-FFF2-40B4-BE49-F238E27FC236}">
                <a16:creationId xmlns:a16="http://schemas.microsoft.com/office/drawing/2014/main" id="{BC3E99BC-AE64-5420-A01A-E9C32F2ACC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74088"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page3image51081200">
            <a:extLst>
              <a:ext uri="{FF2B5EF4-FFF2-40B4-BE49-F238E27FC236}">
                <a16:creationId xmlns:a16="http://schemas.microsoft.com/office/drawing/2014/main" id="{9D66747D-4DD7-72DB-6C2A-356F4729CE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952088"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descr="page3image51076624">
            <a:extLst>
              <a:ext uri="{FF2B5EF4-FFF2-40B4-BE49-F238E27FC236}">
                <a16:creationId xmlns:a16="http://schemas.microsoft.com/office/drawing/2014/main" id="{92A6C7E7-5107-6E0A-3227-8DC3FB611A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318088"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page3image51082240">
            <a:extLst>
              <a:ext uri="{FF2B5EF4-FFF2-40B4-BE49-F238E27FC236}">
                <a16:creationId xmlns:a16="http://schemas.microsoft.com/office/drawing/2014/main" id="{19686A62-A9B0-B5AA-3A7B-000FB21DAF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096088"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descr="page3image51069344">
            <a:extLst>
              <a:ext uri="{FF2B5EF4-FFF2-40B4-BE49-F238E27FC236}">
                <a16:creationId xmlns:a16="http://schemas.microsoft.com/office/drawing/2014/main" id="{90B89741-C4FB-8246-767A-DB971FD7F3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462088"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page3image51080992">
            <a:extLst>
              <a:ext uri="{FF2B5EF4-FFF2-40B4-BE49-F238E27FC236}">
                <a16:creationId xmlns:a16="http://schemas.microsoft.com/office/drawing/2014/main" id="{E285F0E5-3F76-A468-BD99-44A7989EB6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240088" y="1325563"/>
            <a:ext cx="713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descr="page3image51069760">
            <a:extLst>
              <a:ext uri="{FF2B5EF4-FFF2-40B4-BE49-F238E27FC236}">
                <a16:creationId xmlns:a16="http://schemas.microsoft.com/office/drawing/2014/main" id="{2216E987-BE24-00BB-9FC5-DE3587401A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606088" y="1325563"/>
            <a:ext cx="1562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page3image51081824">
            <a:extLst>
              <a:ext uri="{FF2B5EF4-FFF2-40B4-BE49-F238E27FC236}">
                <a16:creationId xmlns:a16="http://schemas.microsoft.com/office/drawing/2014/main" id="{DE2CD2FB-24F4-8AA7-0C87-DBBE9C83DD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384088" y="1325563"/>
            <a:ext cx="7137400" cy="127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2">
            <a:extLst>
              <a:ext uri="{FF2B5EF4-FFF2-40B4-BE49-F238E27FC236}">
                <a16:creationId xmlns:a16="http://schemas.microsoft.com/office/drawing/2014/main" id="{2BF38A84-D835-BEC8-DA92-CDFA1CC8E308}"/>
              </a:ext>
            </a:extLst>
          </p:cNvPr>
          <p:cNvGraphicFramePr>
            <a:graphicFrameLocks noGrp="1"/>
          </p:cNvGraphicFramePr>
          <p:nvPr>
            <p:extLst>
              <p:ext uri="{D42A27DB-BD31-4B8C-83A1-F6EECF244321}">
                <p14:modId xmlns:p14="http://schemas.microsoft.com/office/powerpoint/2010/main" val="2089742082"/>
              </p:ext>
            </p:extLst>
          </p:nvPr>
        </p:nvGraphicFramePr>
        <p:xfrm>
          <a:off x="3818582" y="795865"/>
          <a:ext cx="8002713" cy="5852160"/>
        </p:xfrm>
        <a:graphic>
          <a:graphicData uri="http://schemas.openxmlformats.org/drawingml/2006/table">
            <a:tbl>
              <a:tblPr firstRow="1">
                <a:tableStyleId>{073A0DAA-6AF3-43AB-8588-CEC1D06C72B9}</a:tableStyleId>
              </a:tblPr>
              <a:tblGrid>
                <a:gridCol w="639406">
                  <a:extLst>
                    <a:ext uri="{9D8B030D-6E8A-4147-A177-3AD203B41FA5}">
                      <a16:colId xmlns:a16="http://schemas.microsoft.com/office/drawing/2014/main" val="1074685890"/>
                    </a:ext>
                  </a:extLst>
                </a:gridCol>
                <a:gridCol w="2774085">
                  <a:extLst>
                    <a:ext uri="{9D8B030D-6E8A-4147-A177-3AD203B41FA5}">
                      <a16:colId xmlns:a16="http://schemas.microsoft.com/office/drawing/2014/main" val="3722397382"/>
                    </a:ext>
                  </a:extLst>
                </a:gridCol>
                <a:gridCol w="4589222">
                  <a:extLst>
                    <a:ext uri="{9D8B030D-6E8A-4147-A177-3AD203B41FA5}">
                      <a16:colId xmlns:a16="http://schemas.microsoft.com/office/drawing/2014/main" val="114383645"/>
                    </a:ext>
                  </a:extLst>
                </a:gridCol>
              </a:tblGrid>
              <a:tr h="353480">
                <a:tc>
                  <a:txBody>
                    <a:bodyPr/>
                    <a:lstStyle/>
                    <a:p>
                      <a:endParaRPr lang="en-US" dirty="0"/>
                    </a:p>
                  </a:txBody>
                  <a:tcPr>
                    <a:lnB w="12700" cap="flat" cmpd="sng" algn="ctr">
                      <a:solidFill>
                        <a:schemeClr val="tx1"/>
                      </a:solidFill>
                      <a:prstDash val="solid"/>
                      <a:round/>
                      <a:headEnd type="none" w="med" len="med"/>
                      <a:tailEnd type="none" w="med" len="med"/>
                    </a:lnB>
                    <a:solidFill>
                      <a:srgbClr val="7030A0"/>
                    </a:solidFill>
                  </a:tcPr>
                </a:tc>
                <a:tc>
                  <a:txBody>
                    <a:bodyPr/>
                    <a:lstStyle/>
                    <a:p>
                      <a:r>
                        <a:rPr lang="en-US" dirty="0"/>
                        <a:t>Metric</a:t>
                      </a:r>
                    </a:p>
                  </a:txBody>
                  <a:tcPr>
                    <a:lnB w="12700" cap="flat" cmpd="sng" algn="ctr">
                      <a:solidFill>
                        <a:schemeClr val="tx1"/>
                      </a:solidFill>
                      <a:prstDash val="solid"/>
                      <a:round/>
                      <a:headEnd type="none" w="med" len="med"/>
                      <a:tailEnd type="none" w="med" len="med"/>
                    </a:lnB>
                    <a:solidFill>
                      <a:srgbClr val="7030A0"/>
                    </a:solidFill>
                  </a:tcPr>
                </a:tc>
                <a:tc>
                  <a:txBody>
                    <a:bodyPr/>
                    <a:lstStyle/>
                    <a:p>
                      <a:r>
                        <a:rPr lang="en-US" dirty="0"/>
                        <a:t>Value</a:t>
                      </a:r>
                    </a:p>
                  </a:txBody>
                  <a:tcPr>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3570084423"/>
                  </a:ext>
                </a:extLst>
              </a:tr>
              <a:tr h="353480">
                <a:tc>
                  <a:txBody>
                    <a:bodyPr/>
                    <a:lstStyle/>
                    <a:p>
                      <a:pPr algn="ctr"/>
                      <a:r>
                        <a:rPr lang="en-US" dirty="0">
                          <a:solidFill>
                            <a:schemeClr val="tx1">
                              <a:lumMod val="50000"/>
                              <a:lumOff val="5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Risk Rating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7550828"/>
                  </a:ext>
                </a:extLst>
              </a:tr>
              <a:tr h="353480">
                <a:tc>
                  <a:txBody>
                    <a:bodyPr/>
                    <a:lstStyle/>
                    <a:p>
                      <a:pPr algn="ctr"/>
                      <a:r>
                        <a:rPr lang="en-US" dirty="0">
                          <a:solidFill>
                            <a:schemeClr val="tx1">
                              <a:lumMod val="50000"/>
                              <a:lumOff val="50000"/>
                            </a:schemeClr>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Area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786054"/>
                  </a:ext>
                </a:extLst>
              </a:tr>
              <a:tr h="353480">
                <a:tc>
                  <a:txBody>
                    <a:bodyPr/>
                    <a:lstStyle/>
                    <a:p>
                      <a:pPr algn="ctr"/>
                      <a:r>
                        <a:rPr lang="en-US" dirty="0">
                          <a:solidFill>
                            <a:schemeClr val="tx1">
                              <a:lumMod val="50000"/>
                              <a:lumOff val="50000"/>
                            </a:schemeClr>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lumMod val="50000"/>
                              <a:lumOff val="50000"/>
                            </a:schemeClr>
                          </a:solidFill>
                        </a:rPr>
                        <a:t>Use 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7113992"/>
                  </a:ext>
                </a:extLst>
              </a:tr>
              <a:tr h="353480">
                <a:tc>
                  <a:txBody>
                    <a:bodyPr/>
                    <a:lstStyle/>
                    <a:p>
                      <a:pPr algn="ctr"/>
                      <a:r>
                        <a:rPr lang="en-US" dirty="0">
                          <a:solidFill>
                            <a:schemeClr val="tx1">
                              <a:lumMod val="50000"/>
                              <a:lumOff val="50000"/>
                            </a:schemeClr>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Category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00809"/>
                  </a:ext>
                </a:extLst>
              </a:tr>
              <a:tr h="353480">
                <a:tc>
                  <a:txBody>
                    <a:bodyPr/>
                    <a:lstStyle/>
                    <a:p>
                      <a:pPr algn="ctr"/>
                      <a:r>
                        <a:rPr lang="en-US" dirty="0">
                          <a:solidFill>
                            <a:schemeClr val="tx1">
                              <a:lumMod val="50000"/>
                              <a:lumOff val="50000"/>
                            </a:schemeClr>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Dependencies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1832117"/>
                  </a:ext>
                </a:extLst>
              </a:tr>
              <a:tr h="353480">
                <a:tc>
                  <a:txBody>
                    <a:bodyPr/>
                    <a:lstStyle/>
                    <a:p>
                      <a:pPr algn="ctr"/>
                      <a:r>
                        <a:rPr lang="en-US" dirty="0">
                          <a:solidFill>
                            <a:schemeClr val="tx1">
                              <a:lumMod val="50000"/>
                              <a:lumOff val="50000"/>
                            </a:schemeClr>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Usage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2387477"/>
                  </a:ext>
                </a:extLst>
              </a:tr>
              <a:tr h="353480">
                <a:tc>
                  <a:txBody>
                    <a:bodyPr/>
                    <a:lstStyle/>
                    <a:p>
                      <a:pPr algn="ctr"/>
                      <a:r>
                        <a:rPr lang="en-US" dirty="0">
                          <a:solidFill>
                            <a:schemeClr val="tx1">
                              <a:lumMod val="50000"/>
                              <a:lumOff val="50000"/>
                            </a:schemeClr>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kern="1200" dirty="0">
                          <a:solidFill>
                            <a:schemeClr val="tx1">
                              <a:lumMod val="50000"/>
                              <a:lumOff val="50000"/>
                            </a:schemeClr>
                          </a:solidFill>
                          <a:effectLst/>
                          <a:latin typeface="+mn-lt"/>
                          <a:ea typeface="+mn-ea"/>
                          <a:cs typeface="+mn-cs"/>
                        </a:rPr>
                        <a:t>Model adjustments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7059934"/>
                  </a:ext>
                </a:extLst>
              </a:tr>
              <a:tr h="353480">
                <a:tc>
                  <a:txBody>
                    <a:bodyPr/>
                    <a:lstStyle/>
                    <a:p>
                      <a:pPr algn="ctr"/>
                      <a:r>
                        <a:rPr lang="en-US" dirty="0">
                          <a:solidFill>
                            <a:schemeClr val="tx1">
                              <a:lumMod val="50000"/>
                              <a:lumOff val="50000"/>
                            </a:schemeClr>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Owner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1632037"/>
                  </a:ext>
                </a:extLst>
              </a:tr>
              <a:tr h="353480">
                <a:tc>
                  <a:txBody>
                    <a:bodyPr/>
                    <a:lstStyle/>
                    <a:p>
                      <a:pPr algn="ctr"/>
                      <a:r>
                        <a:rPr lang="en-US" dirty="0">
                          <a:solidFill>
                            <a:schemeClr val="tx1">
                              <a:lumMod val="50000"/>
                              <a:lumOff val="50000"/>
                            </a:schemeClr>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Developer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8164815"/>
                  </a:ext>
                </a:extLst>
              </a:tr>
              <a:tr h="353480">
                <a:tc>
                  <a:txBody>
                    <a:bodyPr/>
                    <a:lstStyle/>
                    <a:p>
                      <a:pPr algn="ctr"/>
                      <a:r>
                        <a:rPr lang="en-US" dirty="0">
                          <a:solidFill>
                            <a:schemeClr val="tx1">
                              <a:lumMod val="50000"/>
                              <a:lumOff val="50000"/>
                            </a:schemeClr>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Approver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27669"/>
                  </a:ext>
                </a:extLst>
              </a:tr>
              <a:tr h="353480">
                <a:tc>
                  <a:txBody>
                    <a:bodyPr/>
                    <a:lstStyle/>
                    <a:p>
                      <a:pPr algn="ctr"/>
                      <a:r>
                        <a:rPr lang="en-US" dirty="0">
                          <a:solidFill>
                            <a:schemeClr val="tx1">
                              <a:lumMod val="50000"/>
                              <a:lumOff val="50000"/>
                            </a:schemeClr>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User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1712304"/>
                  </a:ext>
                </a:extLst>
              </a:tr>
              <a:tr h="353480">
                <a:tc>
                  <a:txBody>
                    <a:bodyPr/>
                    <a:lstStyle/>
                    <a:p>
                      <a:pPr algn="ctr"/>
                      <a:r>
                        <a:rPr lang="en-US" dirty="0">
                          <a:solidFill>
                            <a:schemeClr val="tx1">
                              <a:lumMod val="50000"/>
                              <a:lumOff val="50000"/>
                            </a:schemeClr>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Model Maintenance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0360084"/>
                  </a:ext>
                </a:extLst>
              </a:tr>
              <a:tr h="353480">
                <a:tc>
                  <a:txBody>
                    <a:bodyPr/>
                    <a:lstStyle/>
                    <a:p>
                      <a:pPr algn="ctr"/>
                      <a:r>
                        <a:rPr lang="en-US" dirty="0">
                          <a:solidFill>
                            <a:schemeClr val="tx1">
                              <a:lumMod val="50000"/>
                              <a:lumOff val="50000"/>
                            </a:schemeClr>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Documentation &amp; Code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725456"/>
                  </a:ext>
                </a:extLst>
              </a:tr>
              <a:tr h="353480">
                <a:tc>
                  <a:txBody>
                    <a:bodyPr/>
                    <a:lstStyle/>
                    <a:p>
                      <a:pPr algn="ctr"/>
                      <a:r>
                        <a:rPr lang="en-US" dirty="0">
                          <a:solidFill>
                            <a:schemeClr val="tx1">
                              <a:lumMod val="50000"/>
                              <a:lumOff val="50000"/>
                            </a:schemeClr>
                          </a:solidFill>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effectLst/>
                          <a:latin typeface="+mn-lt"/>
                          <a:ea typeface="+mn-ea"/>
                          <a:cs typeface="+mn-cs"/>
                        </a:rPr>
                        <a:t>Current Model Status </a:t>
                      </a:r>
                      <a:endParaRPr lang="en-US" dirty="0">
                        <a:solidFill>
                          <a:schemeClr val="tx1">
                            <a:lumMod val="50000"/>
                            <a:lumOff val="50000"/>
                          </a:schemeClr>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836360"/>
                  </a:ext>
                </a:extLst>
              </a:tr>
              <a:tr h="353480">
                <a:tc>
                  <a:txBody>
                    <a:bodyPr/>
                    <a:lstStyle/>
                    <a:p>
                      <a:pPr algn="ctr"/>
                      <a:r>
                        <a:rPr lang="en-US" dirty="0">
                          <a:solidFill>
                            <a:schemeClr val="tx1">
                              <a:lumMod val="50000"/>
                              <a:lumOff val="50000"/>
                            </a:schemeClr>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50000"/>
                              <a:lumOff val="50000"/>
                            </a:schemeClr>
                          </a:solidFill>
                          <a:effectLst/>
                        </a:rPr>
                        <a:t>Implementation Platform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99215389"/>
                  </a:ext>
                </a:extLst>
              </a:tr>
            </a:tbl>
          </a:graphicData>
        </a:graphic>
      </p:graphicFrame>
      <p:sp>
        <p:nvSpPr>
          <p:cNvPr id="15" name="TextBox 14">
            <a:extLst>
              <a:ext uri="{FF2B5EF4-FFF2-40B4-BE49-F238E27FC236}">
                <a16:creationId xmlns:a16="http://schemas.microsoft.com/office/drawing/2014/main" id="{44373FA9-54BB-9DB3-DFF8-9B82E7428B68}"/>
              </a:ext>
            </a:extLst>
          </p:cNvPr>
          <p:cNvSpPr txBox="1"/>
          <p:nvPr/>
        </p:nvSpPr>
        <p:spPr>
          <a:xfrm>
            <a:off x="293818" y="1648183"/>
            <a:ext cx="2881868" cy="646331"/>
          </a:xfrm>
          <a:prstGeom prst="rect">
            <a:avLst/>
          </a:prstGeom>
          <a:noFill/>
        </p:spPr>
        <p:txBody>
          <a:bodyPr wrap="square" rtlCol="0">
            <a:spAutoFit/>
          </a:bodyPr>
          <a:lstStyle/>
          <a:p>
            <a:r>
              <a:rPr lang="en-US" dirty="0">
                <a:latin typeface="DejaVuSans"/>
              </a:rPr>
              <a:t>Details on how the model has been managed.</a:t>
            </a:r>
            <a:endParaRPr lang="en-US" dirty="0"/>
          </a:p>
        </p:txBody>
      </p:sp>
      <p:pic>
        <p:nvPicPr>
          <p:cNvPr id="16" name="Picture 15">
            <a:extLst>
              <a:ext uri="{FF2B5EF4-FFF2-40B4-BE49-F238E27FC236}">
                <a16:creationId xmlns:a16="http://schemas.microsoft.com/office/drawing/2014/main" id="{204F6138-1BEE-589C-BDF2-07E37845B9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362" y="6285540"/>
            <a:ext cx="1215390" cy="238125"/>
          </a:xfrm>
          <a:prstGeom prst="rect">
            <a:avLst/>
          </a:prstGeom>
        </p:spPr>
      </p:pic>
      <p:sp>
        <p:nvSpPr>
          <p:cNvPr id="17" name="TextBox 16">
            <a:extLst>
              <a:ext uri="{FF2B5EF4-FFF2-40B4-BE49-F238E27FC236}">
                <a16:creationId xmlns:a16="http://schemas.microsoft.com/office/drawing/2014/main" id="{72EC79D3-C09F-5675-D823-A0C50080830B}"/>
              </a:ext>
            </a:extLst>
          </p:cNvPr>
          <p:cNvSpPr txBox="1"/>
          <p:nvPr/>
        </p:nvSpPr>
        <p:spPr>
          <a:xfrm rot="19702436">
            <a:off x="6463772" y="3437725"/>
            <a:ext cx="3362179" cy="369332"/>
          </a:xfrm>
          <a:prstGeom prst="rect">
            <a:avLst/>
          </a:prstGeom>
          <a:solidFill>
            <a:srgbClr val="00B0F0"/>
          </a:solidFill>
        </p:spPr>
        <p:txBody>
          <a:bodyPr wrap="square" rtlCol="0">
            <a:spAutoFit/>
          </a:bodyPr>
          <a:lstStyle/>
          <a:p>
            <a:r>
              <a:rPr lang="en-US" dirty="0">
                <a:solidFill>
                  <a:schemeClr val="bg1"/>
                </a:solidFill>
              </a:rPr>
              <a:t>ALL TABLES WITH SAME LOOK </a:t>
            </a:r>
          </a:p>
        </p:txBody>
      </p:sp>
    </p:spTree>
    <p:extLst>
      <p:ext uri="{BB962C8B-B14F-4D97-AF65-F5344CB8AC3E}">
        <p14:creationId xmlns:p14="http://schemas.microsoft.com/office/powerpoint/2010/main" val="1308859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0" name="TextBox 9">
            <a:extLst>
              <a:ext uri="{FF2B5EF4-FFF2-40B4-BE49-F238E27FC236}">
                <a16:creationId xmlns:a16="http://schemas.microsoft.com/office/drawing/2014/main" id="{4802979B-33E3-F667-4577-E389C5D7F51E}"/>
              </a:ext>
            </a:extLst>
          </p:cNvPr>
          <p:cNvSpPr txBox="1"/>
          <p:nvPr/>
        </p:nvSpPr>
        <p:spPr>
          <a:xfrm>
            <a:off x="1500660" y="1040684"/>
            <a:ext cx="6384494" cy="4647426"/>
          </a:xfrm>
          <a:prstGeom prst="rect">
            <a:avLst/>
          </a:prstGeom>
          <a:noFill/>
        </p:spPr>
        <p:txBody>
          <a:bodyPr wrap="square">
            <a:spAutoFit/>
          </a:bodyPr>
          <a:lstStyle/>
          <a:p>
            <a:endParaRPr lang="en-US" sz="2400" b="1" dirty="0">
              <a:effectLst/>
              <a:latin typeface="DejaVuSans"/>
            </a:endParaRPr>
          </a:p>
          <a:p>
            <a:r>
              <a:rPr lang="en-US" b="1" dirty="0">
                <a:solidFill>
                  <a:srgbClr val="7030A0"/>
                </a:solidFill>
                <a:effectLst/>
                <a:latin typeface="DejaVuSans"/>
              </a:rPr>
              <a:t>Model Discrimination Analysis </a:t>
            </a:r>
            <a:endParaRPr lang="en-US" sz="1400" dirty="0">
              <a:solidFill>
                <a:srgbClr val="7030A0"/>
              </a:solidFill>
              <a:effectLst/>
            </a:endParaRPr>
          </a:p>
          <a:p>
            <a:r>
              <a:rPr lang="en-US" sz="1400" dirty="0">
                <a:latin typeface="Avenir Light" panose="020B0402020203020204" pitchFamily="34" charset="77"/>
              </a:rPr>
              <a:t>Model Discrimination analysis refers to how well the model differentiates those at a higher risk of having an event from those at a lower risk. </a:t>
            </a:r>
          </a:p>
          <a:p>
            <a:endParaRPr lang="en-US" b="1" dirty="0">
              <a:effectLst/>
              <a:latin typeface="DejaVuSans"/>
            </a:endParaRPr>
          </a:p>
          <a:p>
            <a:r>
              <a:rPr lang="en-US" b="1" dirty="0">
                <a:solidFill>
                  <a:srgbClr val="7030A0"/>
                </a:solidFill>
                <a:latin typeface="DejaVuSans"/>
              </a:rPr>
              <a:t>System or Population Stability </a:t>
            </a:r>
          </a:p>
          <a:p>
            <a:r>
              <a:rPr lang="en-US" sz="1400" dirty="0">
                <a:latin typeface="Avenir Light" panose="020B0402020203020204" pitchFamily="34" charset="77"/>
              </a:rPr>
              <a:t>How different is the current data being scored by the model as compared to the data from which the model was developed. Is the model stable over time?</a:t>
            </a:r>
          </a:p>
          <a:p>
            <a:r>
              <a:rPr lang="en-US" sz="1400" dirty="0">
                <a:latin typeface="Avenir Light" panose="020B0402020203020204" pitchFamily="34" charset="77"/>
              </a:rPr>
              <a:t> </a:t>
            </a:r>
          </a:p>
          <a:p>
            <a:r>
              <a:rPr lang="en-US" b="1" dirty="0">
                <a:solidFill>
                  <a:srgbClr val="7030A0"/>
                </a:solidFill>
                <a:latin typeface="DejaVuSans"/>
              </a:rPr>
              <a:t>Characteristic Stability </a:t>
            </a:r>
          </a:p>
          <a:p>
            <a:r>
              <a:rPr lang="en-US" sz="1400" dirty="0">
                <a:latin typeface="Avenir Light" panose="020B0402020203020204" pitchFamily="34" charset="77"/>
              </a:rPr>
              <a:t>How different is the distribution of the current population for each explanatory variable in the model compared to the population used for model development? What impact does this have on model performance? </a:t>
            </a:r>
          </a:p>
          <a:p>
            <a:endParaRPr lang="en-US" sz="1400" dirty="0">
              <a:effectLst/>
            </a:endParaRPr>
          </a:p>
          <a:p>
            <a:r>
              <a:rPr lang="en-US" b="1" dirty="0">
                <a:solidFill>
                  <a:srgbClr val="7030A0"/>
                </a:solidFill>
                <a:latin typeface="DejaVuSans"/>
              </a:rPr>
              <a:t>Model Calibration (Actual vs Expected) </a:t>
            </a:r>
          </a:p>
          <a:p>
            <a:r>
              <a:rPr lang="en-US" sz="1400" dirty="0">
                <a:latin typeface="Avenir Light" panose="020B0402020203020204" pitchFamily="34" charset="77"/>
              </a:rPr>
              <a:t>Calibration refers to the accuracy of absolute risk estimates. Does the model deliver accurate point predictions? This might become significant for regulatory models of the future where systematic under or over predictions may have capital implications. </a:t>
            </a:r>
          </a:p>
        </p:txBody>
      </p:sp>
      <p:sp>
        <p:nvSpPr>
          <p:cNvPr id="11" name="TextBox 10">
            <a:extLst>
              <a:ext uri="{FF2B5EF4-FFF2-40B4-BE49-F238E27FC236}">
                <a16:creationId xmlns:a16="http://schemas.microsoft.com/office/drawing/2014/main" id="{186AF89C-817A-CF7C-5D27-6A61FD4D2906}"/>
              </a:ext>
            </a:extLst>
          </p:cNvPr>
          <p:cNvSpPr txBox="1"/>
          <p:nvPr/>
        </p:nvSpPr>
        <p:spPr>
          <a:xfrm>
            <a:off x="8587946" y="1040684"/>
            <a:ext cx="3249827" cy="923330"/>
          </a:xfrm>
          <a:prstGeom prst="rect">
            <a:avLst/>
          </a:prstGeom>
          <a:noFill/>
        </p:spPr>
        <p:txBody>
          <a:bodyPr wrap="square" rtlCol="0">
            <a:spAutoFit/>
          </a:bodyPr>
          <a:lstStyle/>
          <a:p>
            <a:r>
              <a:rPr lang="en-US" dirty="0"/>
              <a:t>Areas of Model Governance analyzed to provide a comprehensive framework</a:t>
            </a:r>
          </a:p>
        </p:txBody>
      </p:sp>
      <p:pic>
        <p:nvPicPr>
          <p:cNvPr id="12" name="Picture 11">
            <a:extLst>
              <a:ext uri="{FF2B5EF4-FFF2-40B4-BE49-F238E27FC236}">
                <a16:creationId xmlns:a16="http://schemas.microsoft.com/office/drawing/2014/main" id="{4E095D05-C805-2C62-382F-FC5DA8D1D25D}"/>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661944" y="1379269"/>
            <a:ext cx="702791" cy="711576"/>
          </a:xfrm>
          <a:prstGeom prst="rect">
            <a:avLst/>
          </a:prstGeom>
        </p:spPr>
      </p:pic>
      <p:grpSp>
        <p:nvGrpSpPr>
          <p:cNvPr id="21" name="Group 20">
            <a:extLst>
              <a:ext uri="{FF2B5EF4-FFF2-40B4-BE49-F238E27FC236}">
                <a16:creationId xmlns:a16="http://schemas.microsoft.com/office/drawing/2014/main" id="{26F9DF8B-D98C-0237-382E-5CF0F3084D4A}"/>
              </a:ext>
            </a:extLst>
          </p:cNvPr>
          <p:cNvGrpSpPr/>
          <p:nvPr/>
        </p:nvGrpSpPr>
        <p:grpSpPr>
          <a:xfrm>
            <a:off x="692963" y="2409450"/>
            <a:ext cx="702791" cy="654908"/>
            <a:chOff x="687471" y="2582444"/>
            <a:chExt cx="702791" cy="654908"/>
          </a:xfrm>
        </p:grpSpPr>
        <p:pic>
          <p:nvPicPr>
            <p:cNvPr id="14" name="Graphic 13" descr="Bubbles outline">
              <a:extLst>
                <a:ext uri="{FF2B5EF4-FFF2-40B4-BE49-F238E27FC236}">
                  <a16:creationId xmlns:a16="http://schemas.microsoft.com/office/drawing/2014/main" id="{B8DAD46A-730A-B11D-579A-3F42A27ACE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7868" y="2668899"/>
              <a:ext cx="481998" cy="481998"/>
            </a:xfrm>
            <a:prstGeom prst="rect">
              <a:avLst/>
            </a:prstGeom>
          </p:spPr>
        </p:pic>
        <p:sp>
          <p:nvSpPr>
            <p:cNvPr id="15" name="Oval 14">
              <a:extLst>
                <a:ext uri="{FF2B5EF4-FFF2-40B4-BE49-F238E27FC236}">
                  <a16:creationId xmlns:a16="http://schemas.microsoft.com/office/drawing/2014/main" id="{4B003F74-DF33-E506-F532-590D6896A5C8}"/>
                </a:ext>
              </a:extLst>
            </p:cNvPr>
            <p:cNvSpPr/>
            <p:nvPr/>
          </p:nvSpPr>
          <p:spPr>
            <a:xfrm>
              <a:off x="687471" y="2582444"/>
              <a:ext cx="702791" cy="65490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ECB89564-B065-37CE-6F96-038547102D8A}"/>
              </a:ext>
            </a:extLst>
          </p:cNvPr>
          <p:cNvGrpSpPr/>
          <p:nvPr/>
        </p:nvGrpSpPr>
        <p:grpSpPr>
          <a:xfrm>
            <a:off x="692963" y="3382963"/>
            <a:ext cx="702791" cy="654908"/>
            <a:chOff x="692963" y="3624179"/>
            <a:chExt cx="702791" cy="654908"/>
          </a:xfrm>
        </p:grpSpPr>
        <p:pic>
          <p:nvPicPr>
            <p:cNvPr id="19" name="Graphic 18" descr="Research outline">
              <a:extLst>
                <a:ext uri="{FF2B5EF4-FFF2-40B4-BE49-F238E27FC236}">
                  <a16:creationId xmlns:a16="http://schemas.microsoft.com/office/drawing/2014/main" id="{53C055C2-6FC6-6F01-C763-34754AC6C1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9353" y="3733705"/>
              <a:ext cx="466006" cy="466006"/>
            </a:xfrm>
            <a:prstGeom prst="rect">
              <a:avLst/>
            </a:prstGeom>
          </p:spPr>
        </p:pic>
        <p:sp>
          <p:nvSpPr>
            <p:cNvPr id="20" name="Oval 19">
              <a:extLst>
                <a:ext uri="{FF2B5EF4-FFF2-40B4-BE49-F238E27FC236}">
                  <a16:creationId xmlns:a16="http://schemas.microsoft.com/office/drawing/2014/main" id="{BECEAA86-AD07-1016-EC63-97A41F3A5A2F}"/>
                </a:ext>
              </a:extLst>
            </p:cNvPr>
            <p:cNvSpPr/>
            <p:nvPr/>
          </p:nvSpPr>
          <p:spPr>
            <a:xfrm>
              <a:off x="692963" y="3624179"/>
              <a:ext cx="702791" cy="65490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E0104A0B-5F6A-6F5D-DD76-270428BA3622}"/>
              </a:ext>
            </a:extLst>
          </p:cNvPr>
          <p:cNvGrpSpPr/>
          <p:nvPr/>
        </p:nvGrpSpPr>
        <p:grpSpPr>
          <a:xfrm>
            <a:off x="726851" y="4467687"/>
            <a:ext cx="702791" cy="654908"/>
            <a:chOff x="726851" y="4467687"/>
            <a:chExt cx="702791" cy="654908"/>
          </a:xfrm>
        </p:grpSpPr>
        <p:pic>
          <p:nvPicPr>
            <p:cNvPr id="28" name="Graphic 27" descr="Gauge with solid fill">
              <a:extLst>
                <a:ext uri="{FF2B5EF4-FFF2-40B4-BE49-F238E27FC236}">
                  <a16:creationId xmlns:a16="http://schemas.microsoft.com/office/drawing/2014/main" id="{83261D25-85E8-03CC-6E71-895AE71E2BE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9649" y="4501871"/>
              <a:ext cx="457194" cy="457194"/>
            </a:xfrm>
            <a:prstGeom prst="rect">
              <a:avLst/>
            </a:prstGeom>
          </p:spPr>
        </p:pic>
        <p:sp>
          <p:nvSpPr>
            <p:cNvPr id="29" name="Oval 28">
              <a:extLst>
                <a:ext uri="{FF2B5EF4-FFF2-40B4-BE49-F238E27FC236}">
                  <a16:creationId xmlns:a16="http://schemas.microsoft.com/office/drawing/2014/main" id="{FB4F447A-783B-2036-84A6-AF0D9D217C97}"/>
                </a:ext>
              </a:extLst>
            </p:cNvPr>
            <p:cNvSpPr/>
            <p:nvPr/>
          </p:nvSpPr>
          <p:spPr>
            <a:xfrm>
              <a:off x="726851" y="4467687"/>
              <a:ext cx="702791" cy="65490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C42CAFA5-21C8-F649-7064-02A8D77FD730}"/>
              </a:ext>
            </a:extLst>
          </p:cNvPr>
          <p:cNvSpPr txBox="1"/>
          <p:nvPr/>
        </p:nvSpPr>
        <p:spPr>
          <a:xfrm>
            <a:off x="354227" y="782153"/>
            <a:ext cx="4510216" cy="400110"/>
          </a:xfrm>
          <a:prstGeom prst="rect">
            <a:avLst/>
          </a:prstGeom>
          <a:noFill/>
        </p:spPr>
        <p:txBody>
          <a:bodyPr wrap="square" rtlCol="0">
            <a:spAutoFit/>
          </a:bodyPr>
          <a:lstStyle/>
          <a:p>
            <a:r>
              <a:rPr lang="en-US" sz="2000" b="1" dirty="0">
                <a:solidFill>
                  <a:srgbClr val="7030A0"/>
                </a:solidFill>
              </a:rPr>
              <a:t>Framework of Model Governance</a:t>
            </a:r>
          </a:p>
        </p:txBody>
      </p:sp>
    </p:spTree>
    <p:extLst>
      <p:ext uri="{BB962C8B-B14F-4D97-AF65-F5344CB8AC3E}">
        <p14:creationId xmlns:p14="http://schemas.microsoft.com/office/powerpoint/2010/main" val="1445540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2ECEFC-A0C5-0F55-8C8E-06618C3D9F39}"/>
              </a:ext>
            </a:extLst>
          </p:cNvPr>
          <p:cNvSpPr/>
          <p:nvPr/>
        </p:nvSpPr>
        <p:spPr>
          <a:xfrm>
            <a:off x="0" y="0"/>
            <a:ext cx="8209722"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effectLst/>
            </a:endParaRPr>
          </a:p>
        </p:txBody>
      </p:sp>
      <p:sp>
        <p:nvSpPr>
          <p:cNvPr id="5" name="TextBox 4">
            <a:extLst>
              <a:ext uri="{FF2B5EF4-FFF2-40B4-BE49-F238E27FC236}">
                <a16:creationId xmlns:a16="http://schemas.microsoft.com/office/drawing/2014/main" id="{67728657-EB0C-C842-2834-DB0FC89FC34C}"/>
              </a:ext>
            </a:extLst>
          </p:cNvPr>
          <p:cNvSpPr txBox="1"/>
          <p:nvPr/>
        </p:nvSpPr>
        <p:spPr>
          <a:xfrm>
            <a:off x="1121682" y="2828835"/>
            <a:ext cx="5966358" cy="1200329"/>
          </a:xfrm>
          <a:prstGeom prst="rect">
            <a:avLst/>
          </a:prstGeom>
          <a:noFill/>
        </p:spPr>
        <p:txBody>
          <a:bodyPr wrap="square" rtlCol="0">
            <a:spAutoFit/>
          </a:bodyPr>
          <a:lstStyle/>
          <a:p>
            <a:r>
              <a:rPr lang="en-US" sz="3600" dirty="0">
                <a:solidFill>
                  <a:schemeClr val="bg1"/>
                </a:solidFill>
              </a:rPr>
              <a:t>Model Discrimination Analysis </a:t>
            </a:r>
          </a:p>
          <a:p>
            <a:endParaRPr lang="en-US" sz="3600" dirty="0">
              <a:solidFill>
                <a:schemeClr val="bg1"/>
              </a:solidFill>
            </a:endParaRPr>
          </a:p>
        </p:txBody>
      </p:sp>
      <p:pic>
        <p:nvPicPr>
          <p:cNvPr id="6" name="Picture 5">
            <a:extLst>
              <a:ext uri="{FF2B5EF4-FFF2-40B4-BE49-F238E27FC236}">
                <a16:creationId xmlns:a16="http://schemas.microsoft.com/office/drawing/2014/main" id="{F59172BE-ADE0-E9CD-A147-7950355FA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Tree>
    <p:extLst>
      <p:ext uri="{BB962C8B-B14F-4D97-AF65-F5344CB8AC3E}">
        <p14:creationId xmlns:p14="http://schemas.microsoft.com/office/powerpoint/2010/main" val="3964627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7281949" y="646670"/>
            <a:ext cx="455582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6577389"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7149395" y="809255"/>
            <a:ext cx="3249827" cy="369332"/>
          </a:xfrm>
          <a:prstGeom prst="rect">
            <a:avLst/>
          </a:prstGeom>
          <a:noFill/>
        </p:spPr>
        <p:txBody>
          <a:bodyPr wrap="square" rtlCol="0">
            <a:spAutoFit/>
          </a:bodyPr>
          <a:lstStyle/>
          <a:p>
            <a:r>
              <a:rPr lang="en-US" sz="1800" b="1" dirty="0">
                <a:solidFill>
                  <a:srgbClr val="7030A0"/>
                </a:solidFill>
                <a:effectLst/>
                <a:latin typeface="DejaVuSans"/>
              </a:rPr>
              <a:t>Model Discrimination Analysis </a:t>
            </a:r>
            <a:endParaRPr lang="en-US" dirty="0">
              <a:solidFill>
                <a:srgbClr val="7030A0"/>
              </a:solidFill>
            </a:endParaRPr>
          </a:p>
        </p:txBody>
      </p:sp>
      <p:sp>
        <p:nvSpPr>
          <p:cNvPr id="31" name="TextBox 30">
            <a:extLst>
              <a:ext uri="{FF2B5EF4-FFF2-40B4-BE49-F238E27FC236}">
                <a16:creationId xmlns:a16="http://schemas.microsoft.com/office/drawing/2014/main" id="{C42CAFA5-21C8-F649-7064-02A8D77FD730}"/>
              </a:ext>
            </a:extLst>
          </p:cNvPr>
          <p:cNvSpPr txBox="1"/>
          <p:nvPr/>
        </p:nvSpPr>
        <p:spPr>
          <a:xfrm>
            <a:off x="222422" y="686186"/>
            <a:ext cx="5873578" cy="400110"/>
          </a:xfrm>
          <a:prstGeom prst="rect">
            <a:avLst/>
          </a:prstGeom>
          <a:noFill/>
        </p:spPr>
        <p:txBody>
          <a:bodyPr wrap="square" rtlCol="0">
            <a:spAutoFit/>
          </a:bodyPr>
          <a:lstStyle/>
          <a:p>
            <a:r>
              <a:rPr lang="en-US" sz="2000" b="1" dirty="0">
                <a:solidFill>
                  <a:srgbClr val="7030A0"/>
                </a:solidFill>
              </a:rPr>
              <a:t>Components of Model Discrimination Analysis</a:t>
            </a:r>
          </a:p>
        </p:txBody>
      </p:sp>
      <p:sp>
        <p:nvSpPr>
          <p:cNvPr id="2" name="TextBox 1">
            <a:extLst>
              <a:ext uri="{FF2B5EF4-FFF2-40B4-BE49-F238E27FC236}">
                <a16:creationId xmlns:a16="http://schemas.microsoft.com/office/drawing/2014/main" id="{2CBA4FE2-2170-A475-1BE9-9D25674C9521}"/>
              </a:ext>
            </a:extLst>
          </p:cNvPr>
          <p:cNvSpPr txBox="1"/>
          <p:nvPr/>
        </p:nvSpPr>
        <p:spPr>
          <a:xfrm>
            <a:off x="7149395" y="1178587"/>
            <a:ext cx="4688378" cy="5355312"/>
          </a:xfrm>
          <a:prstGeom prst="rect">
            <a:avLst/>
          </a:prstGeom>
          <a:noFill/>
        </p:spPr>
        <p:txBody>
          <a:bodyPr wrap="square" rtlCol="0">
            <a:spAutoFit/>
          </a:bodyPr>
          <a:lstStyle/>
          <a:p>
            <a:r>
              <a:rPr lang="en-US" sz="1800" dirty="0">
                <a:solidFill>
                  <a:schemeClr val="tx1">
                    <a:lumMod val="50000"/>
                    <a:lumOff val="50000"/>
                  </a:schemeClr>
                </a:solidFill>
                <a:effectLst/>
                <a:latin typeface="DejaVuSans"/>
              </a:rPr>
              <a:t>Discrimination refers to how well the model differentiates those at higher risk of having an event from those at lower risk. Discrimination depends on the distribution of patient characteristics in the population in which the model is being used. A model could well discriminate patients with events from those without events in a heterogeneous population with widely different values of predictors included in the model (e.g., age, sex, laboratory values); however, the same model could fail to discriminate patients in a more homogenous population. An extreme example is a model including age as a predictor that may work well in a population with a flat age distribution between 20 and 90 years but fail in another population in which all patients are between the ages of 50 and 60 years. </a:t>
            </a:r>
            <a:endParaRPr lang="en-US" dirty="0">
              <a:solidFill>
                <a:schemeClr val="tx1">
                  <a:lumMod val="50000"/>
                  <a:lumOff val="50000"/>
                </a:schemeClr>
              </a:solidFill>
            </a:endParaRPr>
          </a:p>
          <a:p>
            <a:endParaRPr lang="en-US" dirty="0"/>
          </a:p>
        </p:txBody>
      </p:sp>
      <p:pic>
        <p:nvPicPr>
          <p:cNvPr id="13" name="Picture 12">
            <a:extLst>
              <a:ext uri="{FF2B5EF4-FFF2-40B4-BE49-F238E27FC236}">
                <a16:creationId xmlns:a16="http://schemas.microsoft.com/office/drawing/2014/main" id="{D1918541-50F7-869F-324B-099382CB88F6}"/>
              </a:ext>
            </a:extLst>
          </p:cNvPr>
          <p:cNvPicPr>
            <a:picLocks noChangeAspect="1"/>
          </p:cNvPicPr>
          <p:nvPr/>
        </p:nvPicPr>
        <p:blipFill>
          <a:blip r:embed="rId3"/>
          <a:stretch>
            <a:fillRect/>
          </a:stretch>
        </p:blipFill>
        <p:spPr>
          <a:xfrm>
            <a:off x="354227" y="1086296"/>
            <a:ext cx="6445584" cy="5585602"/>
          </a:xfrm>
          <a:prstGeom prst="rect">
            <a:avLst/>
          </a:prstGeom>
        </p:spPr>
      </p:pic>
      <p:sp>
        <p:nvSpPr>
          <p:cNvPr id="16" name="TextBox 15">
            <a:extLst>
              <a:ext uri="{FF2B5EF4-FFF2-40B4-BE49-F238E27FC236}">
                <a16:creationId xmlns:a16="http://schemas.microsoft.com/office/drawing/2014/main" id="{FD320685-6122-BF91-E7C4-2BC73E117BAC}"/>
              </a:ext>
            </a:extLst>
          </p:cNvPr>
          <p:cNvSpPr txBox="1"/>
          <p:nvPr/>
        </p:nvSpPr>
        <p:spPr>
          <a:xfrm rot="19702436">
            <a:off x="1895930" y="3313294"/>
            <a:ext cx="3362179" cy="646331"/>
          </a:xfrm>
          <a:prstGeom prst="rect">
            <a:avLst/>
          </a:prstGeom>
          <a:solidFill>
            <a:srgbClr val="00B0F0"/>
          </a:solidFill>
        </p:spPr>
        <p:txBody>
          <a:bodyPr wrap="square" rtlCol="0">
            <a:spAutoFit/>
          </a:bodyPr>
          <a:lstStyle/>
          <a:p>
            <a:r>
              <a:rPr lang="en-US" dirty="0">
                <a:solidFill>
                  <a:schemeClr val="bg1"/>
                </a:solidFill>
              </a:rPr>
              <a:t>ALL TABLES WITH LOOK  AS IN SLIDE #4 </a:t>
            </a:r>
          </a:p>
        </p:txBody>
      </p:sp>
    </p:spTree>
    <p:extLst>
      <p:ext uri="{BB962C8B-B14F-4D97-AF65-F5344CB8AC3E}">
        <p14:creationId xmlns:p14="http://schemas.microsoft.com/office/powerpoint/2010/main" val="184737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587946" y="856018"/>
            <a:ext cx="3249827" cy="369332"/>
          </a:xfrm>
          <a:prstGeom prst="rect">
            <a:avLst/>
          </a:prstGeom>
          <a:noFill/>
        </p:spPr>
        <p:txBody>
          <a:bodyPr wrap="square" rtlCol="0">
            <a:spAutoFit/>
          </a:bodyPr>
          <a:lstStyle/>
          <a:p>
            <a:r>
              <a:rPr lang="en-US" dirty="0"/>
              <a:t>Details on Lorenz Curve</a:t>
            </a:r>
          </a:p>
        </p:txBody>
      </p:sp>
      <p:pic>
        <p:nvPicPr>
          <p:cNvPr id="2" name="Picture 1">
            <a:extLst>
              <a:ext uri="{FF2B5EF4-FFF2-40B4-BE49-F238E27FC236}">
                <a16:creationId xmlns:a16="http://schemas.microsoft.com/office/drawing/2014/main" id="{40509840-DE8B-59E9-6A6C-8774AE9217A9}"/>
              </a:ext>
            </a:extLst>
          </p:cNvPr>
          <p:cNvPicPr>
            <a:picLocks noChangeAspect="1"/>
          </p:cNvPicPr>
          <p:nvPr/>
        </p:nvPicPr>
        <p:blipFill rotWithShape="1">
          <a:blip r:embed="rId3"/>
          <a:srcRect b="9045"/>
          <a:stretch/>
        </p:blipFill>
        <p:spPr>
          <a:xfrm>
            <a:off x="222422" y="1040684"/>
            <a:ext cx="8050404" cy="5170645"/>
          </a:xfrm>
          <a:prstGeom prst="rect">
            <a:avLst/>
          </a:prstGeom>
        </p:spPr>
      </p:pic>
      <p:sp>
        <p:nvSpPr>
          <p:cNvPr id="3" name="TextBox 2">
            <a:extLst>
              <a:ext uri="{FF2B5EF4-FFF2-40B4-BE49-F238E27FC236}">
                <a16:creationId xmlns:a16="http://schemas.microsoft.com/office/drawing/2014/main" id="{45749604-8852-899B-6F2A-E637CCCF9AC7}"/>
              </a:ext>
            </a:extLst>
          </p:cNvPr>
          <p:cNvSpPr txBox="1"/>
          <p:nvPr/>
        </p:nvSpPr>
        <p:spPr>
          <a:xfrm>
            <a:off x="8587946" y="1384419"/>
            <a:ext cx="3324891" cy="3816429"/>
          </a:xfrm>
          <a:prstGeom prst="rect">
            <a:avLst/>
          </a:prstGeom>
          <a:noFill/>
        </p:spPr>
        <p:txBody>
          <a:bodyPr wrap="square" rtlCol="0">
            <a:spAutoFit/>
          </a:bodyPr>
          <a:lstStyle/>
          <a:p>
            <a:r>
              <a:rPr lang="en-US" sz="1400" dirty="0">
                <a:solidFill>
                  <a:schemeClr val="tx1">
                    <a:lumMod val="50000"/>
                    <a:lumOff val="50000"/>
                  </a:schemeClr>
                </a:solidFill>
                <a:effectLst/>
                <a:latin typeface="DejaVuSans"/>
              </a:rPr>
              <a:t>Lorenz curve, is a cumulative frequency curve that compares the distribution of a specific variable (e.g. income) with the uniform distribution that represents equality. It is also known under the name of "lift curve" when applied to classification/ranking. For a given range of predicted probability values, the lift represents a multiplicative increase in the positive class's rate (due to a given predictive model) over a random guess. It is a very common measure of inequality. We looked at the target variable and compared the model’s prediction with that of the actual results. As part of this analysis we found the Lorenz </a:t>
            </a:r>
            <a:endParaRPr lang="en-US" sz="1400" dirty="0">
              <a:solidFill>
                <a:schemeClr val="tx1">
                  <a:lumMod val="50000"/>
                  <a:lumOff val="50000"/>
                </a:schemeClr>
              </a:solidFill>
            </a:endParaRPr>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2" y="769136"/>
            <a:ext cx="3249827" cy="369332"/>
          </a:xfrm>
          <a:prstGeom prst="rect">
            <a:avLst/>
          </a:prstGeom>
          <a:noFill/>
        </p:spPr>
        <p:txBody>
          <a:bodyPr wrap="square" rtlCol="0">
            <a:spAutoFit/>
          </a:bodyPr>
          <a:lstStyle/>
          <a:p>
            <a:r>
              <a:rPr lang="en-US" dirty="0"/>
              <a:t>Lorenz Curve for &lt;use case&gt;</a:t>
            </a:r>
          </a:p>
        </p:txBody>
      </p:sp>
      <p:sp>
        <p:nvSpPr>
          <p:cNvPr id="5" name="TextBox 4">
            <a:extLst>
              <a:ext uri="{FF2B5EF4-FFF2-40B4-BE49-F238E27FC236}">
                <a16:creationId xmlns:a16="http://schemas.microsoft.com/office/drawing/2014/main" id="{8CE1649F-DD45-B129-5222-73D6D6FAA084}"/>
              </a:ext>
            </a:extLst>
          </p:cNvPr>
          <p:cNvSpPr txBox="1"/>
          <p:nvPr/>
        </p:nvSpPr>
        <p:spPr>
          <a:xfrm rot="19702436">
            <a:off x="1919908" y="2859936"/>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249606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587946" y="856018"/>
            <a:ext cx="3249827" cy="923330"/>
          </a:xfrm>
          <a:prstGeom prst="rect">
            <a:avLst/>
          </a:prstGeom>
          <a:noFill/>
        </p:spPr>
        <p:txBody>
          <a:bodyPr wrap="square" rtlCol="0">
            <a:spAutoFit/>
          </a:bodyPr>
          <a:lstStyle/>
          <a:p>
            <a:r>
              <a:rPr lang="en-US" dirty="0"/>
              <a:t>Details on Gini Coefficient or Accuracy Ratio (AR) </a:t>
            </a:r>
          </a:p>
          <a:p>
            <a:endParaRPr lang="en-US" dirty="0"/>
          </a:p>
        </p:txBody>
      </p:sp>
      <p:sp>
        <p:nvSpPr>
          <p:cNvPr id="3" name="TextBox 2">
            <a:extLst>
              <a:ext uri="{FF2B5EF4-FFF2-40B4-BE49-F238E27FC236}">
                <a16:creationId xmlns:a16="http://schemas.microsoft.com/office/drawing/2014/main" id="{45749604-8852-899B-6F2A-E637CCCF9AC7}"/>
              </a:ext>
            </a:extLst>
          </p:cNvPr>
          <p:cNvSpPr txBox="1"/>
          <p:nvPr/>
        </p:nvSpPr>
        <p:spPr>
          <a:xfrm>
            <a:off x="8550413" y="1503159"/>
            <a:ext cx="3324891" cy="2308324"/>
          </a:xfrm>
          <a:prstGeom prst="rect">
            <a:avLst/>
          </a:prstGeom>
          <a:noFill/>
        </p:spPr>
        <p:txBody>
          <a:bodyPr wrap="square" rtlCol="0">
            <a:spAutoFit/>
          </a:bodyPr>
          <a:lstStyle/>
          <a:p>
            <a:r>
              <a:rPr lang="en-US" sz="1400" dirty="0">
                <a:solidFill>
                  <a:schemeClr val="tx1">
                    <a:lumMod val="50000"/>
                    <a:lumOff val="50000"/>
                  </a:schemeClr>
                </a:solidFill>
                <a:latin typeface="DejaVuSans"/>
              </a:rPr>
              <a:t>Gini index has an intuitive geometric interpretation: it can be defined as the ratio of the area that lies between the line of perfect equality and the Lorenz curve, over the total area under the line of equality. </a:t>
            </a:r>
          </a:p>
          <a:p>
            <a:endParaRPr lang="en-US" sz="1400" dirty="0">
              <a:solidFill>
                <a:schemeClr val="tx1">
                  <a:lumMod val="50000"/>
                  <a:lumOff val="50000"/>
                </a:schemeClr>
              </a:solidFill>
              <a:latin typeface="DejaVuSans"/>
            </a:endParaRPr>
          </a:p>
          <a:p>
            <a:r>
              <a:rPr lang="en-US" sz="1400" dirty="0">
                <a:solidFill>
                  <a:schemeClr val="tx1">
                    <a:lumMod val="50000"/>
                    <a:lumOff val="50000"/>
                  </a:schemeClr>
                </a:solidFill>
                <a:latin typeface="DejaVuSans"/>
              </a:rPr>
              <a:t>The equation for Gini Coefficient is </a:t>
            </a:r>
          </a:p>
          <a:p>
            <a:endParaRPr lang="en-US" sz="1400" dirty="0">
              <a:solidFill>
                <a:schemeClr val="tx1">
                  <a:lumMod val="50000"/>
                  <a:lumOff val="50000"/>
                </a:schemeClr>
              </a:solidFill>
              <a:latin typeface="DejaVuSans"/>
            </a:endParaRPr>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2" y="769136"/>
            <a:ext cx="5182178" cy="369332"/>
          </a:xfrm>
          <a:prstGeom prst="rect">
            <a:avLst/>
          </a:prstGeom>
          <a:noFill/>
        </p:spPr>
        <p:txBody>
          <a:bodyPr wrap="square" rtlCol="0">
            <a:spAutoFit/>
          </a:bodyPr>
          <a:lstStyle/>
          <a:p>
            <a:r>
              <a:rPr lang="en-US" dirty="0"/>
              <a:t>Gini Coefficient or Accuracy Ratio (AR) for &lt;use case&gt;</a:t>
            </a:r>
          </a:p>
        </p:txBody>
      </p:sp>
      <p:pic>
        <p:nvPicPr>
          <p:cNvPr id="9" name="Picture 8">
            <a:extLst>
              <a:ext uri="{FF2B5EF4-FFF2-40B4-BE49-F238E27FC236}">
                <a16:creationId xmlns:a16="http://schemas.microsoft.com/office/drawing/2014/main" id="{095743E8-0B42-1BEB-FA8F-BE7E2ABFC2A1}"/>
              </a:ext>
            </a:extLst>
          </p:cNvPr>
          <p:cNvPicPr>
            <a:picLocks noChangeAspect="1"/>
          </p:cNvPicPr>
          <p:nvPr/>
        </p:nvPicPr>
        <p:blipFill>
          <a:blip r:embed="rId4"/>
          <a:stretch>
            <a:fillRect/>
          </a:stretch>
        </p:blipFill>
        <p:spPr>
          <a:xfrm>
            <a:off x="176748" y="1938565"/>
            <a:ext cx="7772400" cy="1685580"/>
          </a:xfrm>
          <a:prstGeom prst="rect">
            <a:avLst/>
          </a:prstGeom>
        </p:spPr>
      </p:pic>
      <p:pic>
        <p:nvPicPr>
          <p:cNvPr id="2054" name="Picture 6" descr="page5image50999072">
            <a:extLst>
              <a:ext uri="{FF2B5EF4-FFF2-40B4-BE49-F238E27FC236}">
                <a16:creationId xmlns:a16="http://schemas.microsoft.com/office/drawing/2014/main" id="{F97B37A0-4F0F-8A88-A2C3-771E278AA5B7}"/>
              </a:ext>
            </a:extLst>
          </p:cNvPr>
          <p:cNvPicPr>
            <a:picLocks noChangeAspect="1" noChangeArrowheads="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809751" y="3288097"/>
            <a:ext cx="2423419" cy="67209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BA0664A-A46E-4828-05A6-4331E0BFD960}"/>
              </a:ext>
            </a:extLst>
          </p:cNvPr>
          <p:cNvSpPr txBox="1"/>
          <p:nvPr/>
        </p:nvSpPr>
        <p:spPr>
          <a:xfrm>
            <a:off x="8550412" y="3806303"/>
            <a:ext cx="2942096" cy="307777"/>
          </a:xfrm>
          <a:prstGeom prst="rect">
            <a:avLst/>
          </a:prstGeom>
          <a:noFill/>
        </p:spPr>
        <p:txBody>
          <a:bodyPr wrap="square">
            <a:spAutoFit/>
          </a:bodyPr>
          <a:lstStyle/>
          <a:p>
            <a:r>
              <a:rPr lang="en-US" sz="1400" dirty="0">
                <a:solidFill>
                  <a:schemeClr val="tx1">
                    <a:lumMod val="50000"/>
                    <a:lumOff val="50000"/>
                  </a:schemeClr>
                </a:solidFill>
                <a:latin typeface="DejaVuSans"/>
              </a:rPr>
              <a:t>where Y is an independent copy of X. </a:t>
            </a:r>
          </a:p>
        </p:txBody>
      </p:sp>
      <p:sp>
        <p:nvSpPr>
          <p:cNvPr id="14" name="TextBox 13">
            <a:extLst>
              <a:ext uri="{FF2B5EF4-FFF2-40B4-BE49-F238E27FC236}">
                <a16:creationId xmlns:a16="http://schemas.microsoft.com/office/drawing/2014/main" id="{AFB0AFBF-B7EA-8D9E-D2D0-E5934CB4DAB2}"/>
              </a:ext>
            </a:extLst>
          </p:cNvPr>
          <p:cNvSpPr txBox="1"/>
          <p:nvPr/>
        </p:nvSpPr>
        <p:spPr>
          <a:xfrm>
            <a:off x="8587946" y="4756040"/>
            <a:ext cx="3158594" cy="1384995"/>
          </a:xfrm>
          <a:prstGeom prst="rect">
            <a:avLst/>
          </a:prstGeom>
          <a:noFill/>
        </p:spPr>
        <p:txBody>
          <a:bodyPr wrap="square">
            <a:spAutoFit/>
          </a:bodyPr>
          <a:lstStyle/>
          <a:p>
            <a:r>
              <a:rPr lang="en-US" sz="1400" dirty="0">
                <a:solidFill>
                  <a:schemeClr val="tx1">
                    <a:lumMod val="50000"/>
                    <a:lumOff val="50000"/>
                  </a:schemeClr>
                </a:solidFill>
                <a:latin typeface="DejaVuSans"/>
              </a:rPr>
              <a:t>We define retrain trigger based on the comparison of the model’s most recent Gini Calculation with that observed for the previous tracking period. A large decrease or increase would indicate a need for further investigation. </a:t>
            </a:r>
          </a:p>
        </p:txBody>
      </p:sp>
      <p:sp>
        <p:nvSpPr>
          <p:cNvPr id="16" name="TextBox 15">
            <a:extLst>
              <a:ext uri="{FF2B5EF4-FFF2-40B4-BE49-F238E27FC236}">
                <a16:creationId xmlns:a16="http://schemas.microsoft.com/office/drawing/2014/main" id="{F91628BF-1079-8043-F2D8-852C853B7DFC}"/>
              </a:ext>
            </a:extLst>
          </p:cNvPr>
          <p:cNvSpPr txBox="1"/>
          <p:nvPr/>
        </p:nvSpPr>
        <p:spPr>
          <a:xfrm>
            <a:off x="151822" y="4434988"/>
            <a:ext cx="6097424" cy="369332"/>
          </a:xfrm>
          <a:prstGeom prst="rect">
            <a:avLst/>
          </a:prstGeom>
          <a:noFill/>
        </p:spPr>
        <p:txBody>
          <a:bodyPr wrap="square">
            <a:spAutoFit/>
          </a:bodyPr>
          <a:lstStyle/>
          <a:p>
            <a:r>
              <a:rPr lang="en-US" dirty="0"/>
              <a:t>Retrain Trigger for &lt;use case&gt;</a:t>
            </a:r>
          </a:p>
        </p:txBody>
      </p:sp>
      <p:cxnSp>
        <p:nvCxnSpPr>
          <p:cNvPr id="17" name="Straight Connector 16">
            <a:extLst>
              <a:ext uri="{FF2B5EF4-FFF2-40B4-BE49-F238E27FC236}">
                <a16:creationId xmlns:a16="http://schemas.microsoft.com/office/drawing/2014/main" id="{08C51B71-3A6F-638F-2DF6-97D1B88F8C62}"/>
              </a:ext>
            </a:extLst>
          </p:cNvPr>
          <p:cNvCxnSpPr>
            <a:cxnSpLocks/>
          </p:cNvCxnSpPr>
          <p:nvPr/>
        </p:nvCxnSpPr>
        <p:spPr>
          <a:xfrm>
            <a:off x="8495269" y="4376156"/>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BDFD3F8D-3984-5114-B140-341C89BBB1B6}"/>
              </a:ext>
            </a:extLst>
          </p:cNvPr>
          <p:cNvSpPr txBox="1"/>
          <p:nvPr/>
        </p:nvSpPr>
        <p:spPr>
          <a:xfrm>
            <a:off x="8618366" y="4401748"/>
            <a:ext cx="1713788" cy="369332"/>
          </a:xfrm>
          <a:prstGeom prst="rect">
            <a:avLst/>
          </a:prstGeom>
          <a:noFill/>
        </p:spPr>
        <p:txBody>
          <a:bodyPr wrap="square">
            <a:spAutoFit/>
          </a:bodyPr>
          <a:lstStyle/>
          <a:p>
            <a:r>
              <a:rPr lang="en-US" dirty="0"/>
              <a:t>Retrain Trigger </a:t>
            </a:r>
          </a:p>
        </p:txBody>
      </p:sp>
      <p:cxnSp>
        <p:nvCxnSpPr>
          <p:cNvPr id="20" name="Straight Connector 19">
            <a:extLst>
              <a:ext uri="{FF2B5EF4-FFF2-40B4-BE49-F238E27FC236}">
                <a16:creationId xmlns:a16="http://schemas.microsoft.com/office/drawing/2014/main" id="{7102DE86-3D21-9D44-554E-B7A3C13CD5A4}"/>
              </a:ext>
            </a:extLst>
          </p:cNvPr>
          <p:cNvCxnSpPr>
            <a:cxnSpLocks/>
          </p:cNvCxnSpPr>
          <p:nvPr/>
        </p:nvCxnSpPr>
        <p:spPr>
          <a:xfrm>
            <a:off x="289364" y="4311391"/>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A656938D-D9AC-330D-5B53-58D744B7F029}"/>
              </a:ext>
            </a:extLst>
          </p:cNvPr>
          <p:cNvSpPr txBox="1"/>
          <p:nvPr/>
        </p:nvSpPr>
        <p:spPr>
          <a:xfrm>
            <a:off x="598206" y="5076202"/>
            <a:ext cx="4230168" cy="923330"/>
          </a:xfrm>
          <a:prstGeom prst="rect">
            <a:avLst/>
          </a:prstGeom>
          <a:noFill/>
        </p:spPr>
        <p:txBody>
          <a:bodyPr wrap="square" rtlCol="0">
            <a:spAutoFit/>
          </a:bodyPr>
          <a:lstStyle/>
          <a:p>
            <a:r>
              <a:rPr lang="en-US" dirty="0"/>
              <a:t>Gini Current:</a:t>
            </a:r>
          </a:p>
          <a:p>
            <a:r>
              <a:rPr lang="en-US" dirty="0"/>
              <a:t>Gini Last Model Run:</a:t>
            </a:r>
          </a:p>
          <a:p>
            <a:r>
              <a:rPr lang="en-US" dirty="0"/>
              <a:t>Difference between </a:t>
            </a:r>
            <a:r>
              <a:rPr lang="en-US" dirty="0" err="1"/>
              <a:t>Ginis</a:t>
            </a:r>
            <a:r>
              <a:rPr lang="en-US" dirty="0"/>
              <a:t> : </a:t>
            </a:r>
          </a:p>
        </p:txBody>
      </p:sp>
      <p:sp>
        <p:nvSpPr>
          <p:cNvPr id="22" name="TextBox 21">
            <a:extLst>
              <a:ext uri="{FF2B5EF4-FFF2-40B4-BE49-F238E27FC236}">
                <a16:creationId xmlns:a16="http://schemas.microsoft.com/office/drawing/2014/main" id="{F56F6E5B-9F2A-C21A-AD47-87E73169985A}"/>
              </a:ext>
            </a:extLst>
          </p:cNvPr>
          <p:cNvSpPr txBox="1"/>
          <p:nvPr/>
        </p:nvSpPr>
        <p:spPr>
          <a:xfrm>
            <a:off x="289364" y="6202881"/>
            <a:ext cx="7367668" cy="430887"/>
          </a:xfrm>
          <a:prstGeom prst="rect">
            <a:avLst/>
          </a:prstGeom>
          <a:noFill/>
        </p:spPr>
        <p:txBody>
          <a:bodyPr wrap="square">
            <a:spAutoFit/>
          </a:bodyPr>
          <a:lstStyle/>
          <a:p>
            <a:r>
              <a:rPr lang="en-US" sz="1100" dirty="0">
                <a:solidFill>
                  <a:schemeClr val="tx1">
                    <a:lumMod val="50000"/>
                    <a:lumOff val="50000"/>
                  </a:schemeClr>
                </a:solidFill>
                <a:latin typeface="DejaVuSans"/>
              </a:rPr>
              <a:t>Note: If the difference between the last normalized Gini coefficient and current normalized Gini coefficient is &gt; 50% we set Retrain Trigger to be “True”</a:t>
            </a:r>
          </a:p>
        </p:txBody>
      </p:sp>
      <p:sp>
        <p:nvSpPr>
          <p:cNvPr id="23" name="TextBox 22">
            <a:extLst>
              <a:ext uri="{FF2B5EF4-FFF2-40B4-BE49-F238E27FC236}">
                <a16:creationId xmlns:a16="http://schemas.microsoft.com/office/drawing/2014/main" id="{4A40BF93-B2F4-5D86-D355-BF2D5B1CC51D}"/>
              </a:ext>
            </a:extLst>
          </p:cNvPr>
          <p:cNvSpPr txBox="1"/>
          <p:nvPr/>
        </p:nvSpPr>
        <p:spPr>
          <a:xfrm rot="19702436">
            <a:off x="2381858" y="2346560"/>
            <a:ext cx="3362179" cy="646331"/>
          </a:xfrm>
          <a:prstGeom prst="rect">
            <a:avLst/>
          </a:prstGeom>
          <a:solidFill>
            <a:srgbClr val="00B0F0"/>
          </a:solidFill>
        </p:spPr>
        <p:txBody>
          <a:bodyPr wrap="square" rtlCol="0">
            <a:spAutoFit/>
          </a:bodyPr>
          <a:lstStyle/>
          <a:p>
            <a:r>
              <a:rPr lang="en-US" dirty="0">
                <a:solidFill>
                  <a:schemeClr val="bg1"/>
                </a:solidFill>
              </a:rPr>
              <a:t>ALL TABLES WITH LOOK  AS IN SLIDE #4 </a:t>
            </a:r>
          </a:p>
        </p:txBody>
      </p:sp>
    </p:spTree>
    <p:extLst>
      <p:ext uri="{BB962C8B-B14F-4D97-AF65-F5344CB8AC3E}">
        <p14:creationId xmlns:p14="http://schemas.microsoft.com/office/powerpoint/2010/main" val="513195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587946" y="856018"/>
            <a:ext cx="3249827" cy="1200329"/>
          </a:xfrm>
          <a:prstGeom prst="rect">
            <a:avLst/>
          </a:prstGeom>
          <a:noFill/>
        </p:spPr>
        <p:txBody>
          <a:bodyPr wrap="square" rtlCol="0">
            <a:spAutoFit/>
          </a:bodyPr>
          <a:lstStyle/>
          <a:p>
            <a:r>
              <a:rPr lang="en-US" dirty="0"/>
              <a:t>Details on Schutz coefficient or Pietra index or Robin Hood Index </a:t>
            </a:r>
          </a:p>
          <a:p>
            <a:endParaRPr lang="en-US" dirty="0"/>
          </a:p>
          <a:p>
            <a:endParaRPr lang="en-US" dirty="0"/>
          </a:p>
        </p:txBody>
      </p:sp>
      <p:sp>
        <p:nvSpPr>
          <p:cNvPr id="3" name="TextBox 2">
            <a:extLst>
              <a:ext uri="{FF2B5EF4-FFF2-40B4-BE49-F238E27FC236}">
                <a16:creationId xmlns:a16="http://schemas.microsoft.com/office/drawing/2014/main" id="{45749604-8852-899B-6F2A-E637CCCF9AC7}"/>
              </a:ext>
            </a:extLst>
          </p:cNvPr>
          <p:cNvSpPr txBox="1"/>
          <p:nvPr/>
        </p:nvSpPr>
        <p:spPr>
          <a:xfrm>
            <a:off x="8550413" y="1700104"/>
            <a:ext cx="3324891" cy="3385542"/>
          </a:xfrm>
          <a:prstGeom prst="rect">
            <a:avLst/>
          </a:prstGeom>
          <a:noFill/>
        </p:spPr>
        <p:txBody>
          <a:bodyPr wrap="square" rtlCol="0">
            <a:spAutoFit/>
          </a:bodyPr>
          <a:lstStyle/>
          <a:p>
            <a:r>
              <a:rPr lang="en-US" sz="1400" dirty="0">
                <a:solidFill>
                  <a:schemeClr val="tx1">
                    <a:lumMod val="50000"/>
                    <a:lumOff val="50000"/>
                  </a:schemeClr>
                </a:solidFill>
                <a:latin typeface="DejaVuSans"/>
              </a:rPr>
              <a:t>Schutz Coefficient or Robin Hood index can be graphically represented as the maximum vertical distance between the Lorenz curve and the 45-degree line that represents perfect equality of values. The Robin Hood index is also known as the Hoover index</a:t>
            </a:r>
          </a:p>
          <a:p>
            <a:endParaRPr lang="en-US" sz="1400" dirty="0">
              <a:solidFill>
                <a:schemeClr val="tx1">
                  <a:lumMod val="50000"/>
                  <a:lumOff val="50000"/>
                </a:schemeClr>
              </a:solidFill>
              <a:latin typeface="DejaVuSans"/>
            </a:endParaRPr>
          </a:p>
          <a:p>
            <a:r>
              <a:rPr lang="en-US" sz="1400" dirty="0">
                <a:solidFill>
                  <a:schemeClr val="tx1">
                    <a:lumMod val="50000"/>
                    <a:lumOff val="50000"/>
                  </a:schemeClr>
                </a:solidFill>
                <a:latin typeface="DejaVuSans"/>
              </a:rPr>
              <a:t>Higher values indicate more inequality between the prediction and actuals, indicating a likelihood of model deterioration.</a:t>
            </a:r>
          </a:p>
          <a:p>
            <a:endParaRPr lang="en-US" sz="1400" dirty="0">
              <a:solidFill>
                <a:schemeClr val="tx1">
                  <a:lumMod val="50000"/>
                  <a:lumOff val="50000"/>
                </a:schemeClr>
              </a:solidFill>
              <a:latin typeface="DejaVuSans"/>
            </a:endParaRPr>
          </a:p>
          <a:p>
            <a:endParaRPr lang="en-US" sz="1400" dirty="0">
              <a:solidFill>
                <a:schemeClr val="tx1">
                  <a:lumMod val="50000"/>
                  <a:lumOff val="50000"/>
                </a:schemeClr>
              </a:solidFill>
              <a:latin typeface="DejaVuSans"/>
            </a:endParaRPr>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1" y="769136"/>
            <a:ext cx="6112245" cy="646331"/>
          </a:xfrm>
          <a:prstGeom prst="rect">
            <a:avLst/>
          </a:prstGeom>
          <a:noFill/>
        </p:spPr>
        <p:txBody>
          <a:bodyPr wrap="square" rtlCol="0">
            <a:spAutoFit/>
          </a:bodyPr>
          <a:lstStyle/>
          <a:p>
            <a:r>
              <a:rPr lang="en-US" sz="1800" dirty="0">
                <a:effectLst/>
                <a:latin typeface="DejaVuSans"/>
              </a:rPr>
              <a:t>Schutz coefficient or Pietra index or Robin Hood Index </a:t>
            </a:r>
            <a:endParaRPr lang="en-US" dirty="0"/>
          </a:p>
          <a:p>
            <a:r>
              <a:rPr lang="en-US" dirty="0"/>
              <a:t>for &lt;use case&gt;</a:t>
            </a:r>
          </a:p>
        </p:txBody>
      </p:sp>
      <p:pic>
        <p:nvPicPr>
          <p:cNvPr id="2" name="Picture 1">
            <a:extLst>
              <a:ext uri="{FF2B5EF4-FFF2-40B4-BE49-F238E27FC236}">
                <a16:creationId xmlns:a16="http://schemas.microsoft.com/office/drawing/2014/main" id="{E2F222DA-33C6-F3AB-23BE-0E3C733365E7}"/>
              </a:ext>
            </a:extLst>
          </p:cNvPr>
          <p:cNvPicPr>
            <a:picLocks noChangeAspect="1"/>
          </p:cNvPicPr>
          <p:nvPr/>
        </p:nvPicPr>
        <p:blipFill>
          <a:blip r:embed="rId3"/>
          <a:stretch>
            <a:fillRect/>
          </a:stretch>
        </p:blipFill>
        <p:spPr>
          <a:xfrm>
            <a:off x="247135" y="5376997"/>
            <a:ext cx="7772400" cy="854370"/>
          </a:xfrm>
          <a:prstGeom prst="rect">
            <a:avLst/>
          </a:prstGeom>
        </p:spPr>
      </p:pic>
      <p:pic>
        <p:nvPicPr>
          <p:cNvPr id="3076" name="Picture 4" descr="Households Income Poverty and Inequalities in Tanzania: Analysis of  Empirical Evidence of Methodological Challenges | OMICS International">
            <a:extLst>
              <a:ext uri="{FF2B5EF4-FFF2-40B4-BE49-F238E27FC236}">
                <a16:creationId xmlns:a16="http://schemas.microsoft.com/office/drawing/2014/main" id="{4154A5C1-47A0-11A8-7C6A-987A368E04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71" r="990" b="3989"/>
          <a:stretch/>
        </p:blipFill>
        <p:spPr bwMode="auto">
          <a:xfrm>
            <a:off x="946581" y="1470776"/>
            <a:ext cx="5978673" cy="36148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25638FF-A830-DC00-9A83-0380059936EA}"/>
              </a:ext>
            </a:extLst>
          </p:cNvPr>
          <p:cNvSpPr txBox="1"/>
          <p:nvPr/>
        </p:nvSpPr>
        <p:spPr>
          <a:xfrm rot="19702436">
            <a:off x="2982088" y="3105834"/>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1118064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297717" y="893996"/>
            <a:ext cx="3249827" cy="923330"/>
          </a:xfrm>
          <a:prstGeom prst="rect">
            <a:avLst/>
          </a:prstGeom>
          <a:noFill/>
        </p:spPr>
        <p:txBody>
          <a:bodyPr wrap="square" rtlCol="0">
            <a:spAutoFit/>
          </a:bodyPr>
          <a:lstStyle/>
          <a:p>
            <a:r>
              <a:rPr lang="en-US" dirty="0"/>
              <a:t>Details on </a:t>
            </a:r>
            <a:r>
              <a:rPr lang="en-US" sz="1800" b="1" dirty="0">
                <a:effectLst/>
                <a:latin typeface="DejaVuSans"/>
              </a:rPr>
              <a:t>Kolmogorov–Smirnov (K-S) test </a:t>
            </a:r>
            <a:endParaRPr lang="en-US" dirty="0"/>
          </a:p>
          <a:p>
            <a:endParaRPr lang="en-US" dirty="0"/>
          </a:p>
        </p:txBody>
      </p:sp>
      <p:sp>
        <p:nvSpPr>
          <p:cNvPr id="3" name="TextBox 2">
            <a:extLst>
              <a:ext uri="{FF2B5EF4-FFF2-40B4-BE49-F238E27FC236}">
                <a16:creationId xmlns:a16="http://schemas.microsoft.com/office/drawing/2014/main" id="{45749604-8852-899B-6F2A-E637CCCF9AC7}"/>
              </a:ext>
            </a:extLst>
          </p:cNvPr>
          <p:cNvSpPr txBox="1"/>
          <p:nvPr/>
        </p:nvSpPr>
        <p:spPr>
          <a:xfrm>
            <a:off x="8402595" y="1723857"/>
            <a:ext cx="3621338" cy="4678204"/>
          </a:xfrm>
          <a:prstGeom prst="rect">
            <a:avLst/>
          </a:prstGeom>
          <a:noFill/>
        </p:spPr>
        <p:txBody>
          <a:bodyPr wrap="square" rtlCol="0">
            <a:spAutoFit/>
          </a:bodyPr>
          <a:lstStyle/>
          <a:p>
            <a:r>
              <a:rPr lang="en-US" sz="1400" dirty="0">
                <a:solidFill>
                  <a:schemeClr val="tx1">
                    <a:lumMod val="50000"/>
                    <a:lumOff val="50000"/>
                  </a:schemeClr>
                </a:solidFill>
                <a:latin typeface="DejaVuSans"/>
              </a:rPr>
              <a:t>The Kolmogorov–Smirnov statistic quantifies a distance between the empirical distribution function of the sample and the cumulative distribution function of the reference distribution (associated with null hypothesis), or between the empirical distribution functions of two samples. This performs a test of the distribution G(x) of an observed random variable against a given distribution F(x). Under the null hypothesis the two distributions are identical, G(x)=F(x). The alternative hypothesis can be either ‘two-sided’ (default), ‘less’ or ‘greater’. The KS test is only valid for continuous distributions. </a:t>
            </a:r>
          </a:p>
          <a:p>
            <a:endParaRPr lang="en-US" sz="1400" dirty="0">
              <a:solidFill>
                <a:schemeClr val="tx1">
                  <a:lumMod val="50000"/>
                  <a:lumOff val="50000"/>
                </a:schemeClr>
              </a:solidFill>
              <a:latin typeface="DejaVuSans"/>
            </a:endParaRPr>
          </a:p>
          <a:p>
            <a:endParaRPr lang="en-US" sz="1400" dirty="0">
              <a:solidFill>
                <a:schemeClr val="tx1">
                  <a:lumMod val="50000"/>
                  <a:lumOff val="50000"/>
                </a:schemeClr>
              </a:solidFill>
              <a:latin typeface="DejaVuSans"/>
            </a:endParaRPr>
          </a:p>
          <a:p>
            <a:endParaRPr lang="en-US" sz="1400" dirty="0">
              <a:solidFill>
                <a:schemeClr val="tx1">
                  <a:lumMod val="50000"/>
                  <a:lumOff val="50000"/>
                </a:schemeClr>
              </a:solidFill>
              <a:latin typeface="DejaVuSans"/>
            </a:endParaRPr>
          </a:p>
          <a:p>
            <a:r>
              <a:rPr lang="en-US" sz="1400" dirty="0">
                <a:solidFill>
                  <a:schemeClr val="tx1">
                    <a:lumMod val="50000"/>
                    <a:lumOff val="50000"/>
                  </a:schemeClr>
                </a:solidFill>
                <a:latin typeface="DejaVuSans"/>
              </a:rPr>
              <a:t>Where Dx is the KS Statistic</a:t>
            </a:r>
            <a:br>
              <a:rPr lang="en-US" sz="1400" dirty="0">
                <a:solidFill>
                  <a:schemeClr val="tx1">
                    <a:lumMod val="50000"/>
                    <a:lumOff val="50000"/>
                  </a:schemeClr>
                </a:solidFill>
                <a:latin typeface="DejaVuSans"/>
              </a:rPr>
            </a:br>
            <a:r>
              <a:rPr lang="en-US" sz="1400" dirty="0" err="1">
                <a:solidFill>
                  <a:schemeClr val="tx1">
                    <a:lumMod val="50000"/>
                    <a:lumOff val="50000"/>
                  </a:schemeClr>
                </a:solidFill>
                <a:latin typeface="DejaVuSans"/>
              </a:rPr>
              <a:t>Fexp</a:t>
            </a:r>
            <a:r>
              <a:rPr lang="en-US" sz="1400" dirty="0">
                <a:solidFill>
                  <a:schemeClr val="tx1">
                    <a:lumMod val="50000"/>
                    <a:lumOff val="50000"/>
                  </a:schemeClr>
                </a:solidFill>
                <a:latin typeface="DejaVuSans"/>
              </a:rPr>
              <a:t> (x) is the function of expected values of x Fobs (x) is the function of expected values of x </a:t>
            </a:r>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1" y="769136"/>
            <a:ext cx="6112245" cy="369332"/>
          </a:xfrm>
          <a:prstGeom prst="rect">
            <a:avLst/>
          </a:prstGeom>
          <a:noFill/>
        </p:spPr>
        <p:txBody>
          <a:bodyPr wrap="square" rtlCol="0">
            <a:spAutoFit/>
          </a:bodyPr>
          <a:lstStyle/>
          <a:p>
            <a:r>
              <a:rPr lang="en-US" sz="1800" b="1" dirty="0">
                <a:effectLst/>
                <a:latin typeface="DejaVuSans"/>
              </a:rPr>
              <a:t>Kolmogorov–Smirnov (K-S) test </a:t>
            </a:r>
            <a:r>
              <a:rPr lang="en-US" dirty="0"/>
              <a:t>for &lt;use case&gt;</a:t>
            </a:r>
          </a:p>
        </p:txBody>
      </p:sp>
      <p:pic>
        <p:nvPicPr>
          <p:cNvPr id="6146" name="Picture 2" descr="Kolmogorov–Smirnov test - Wikipedia">
            <a:extLst>
              <a:ext uri="{FF2B5EF4-FFF2-40B4-BE49-F238E27FC236}">
                <a16:creationId xmlns:a16="http://schemas.microsoft.com/office/drawing/2014/main" id="{B1074095-05A8-DC6A-EB1B-DA42D3F96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848" y="1260933"/>
            <a:ext cx="4749670" cy="39105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age6image51151472">
            <a:extLst>
              <a:ext uri="{FF2B5EF4-FFF2-40B4-BE49-F238E27FC236}">
                <a16:creationId xmlns:a16="http://schemas.microsoft.com/office/drawing/2014/main" id="{4A9CA325-3FE1-714A-38D6-732534FD234A}"/>
              </a:ext>
            </a:extLst>
          </p:cNvPr>
          <p:cNvPicPr>
            <a:picLocks noChangeAspect="1" noChangeArrowheads="1"/>
          </p:cNvPicPr>
          <p:nvPr/>
        </p:nvPicPr>
        <p:blipFill>
          <a:blip r:embed="rId4">
            <a:duotone>
              <a:prstClr val="black"/>
              <a:schemeClr val="bg1">
                <a:lumMod val="50000"/>
                <a:tint val="45000"/>
                <a:satMod val="400000"/>
              </a:schemeClr>
            </a:duotone>
            <a:extLst>
              <a:ext uri="{BEBA8EAE-BF5A-486C-A8C5-ECC9F3942E4B}">
                <a14:imgProps xmlns:a14="http://schemas.microsoft.com/office/drawing/2010/main">
                  <a14:imgLayer r:embed="rId5">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922462" y="4893789"/>
            <a:ext cx="2395444" cy="3832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DACCC58-9E64-FDE3-74BF-7C9233754826}"/>
              </a:ext>
            </a:extLst>
          </p:cNvPr>
          <p:cNvPicPr>
            <a:picLocks noChangeAspect="1"/>
          </p:cNvPicPr>
          <p:nvPr/>
        </p:nvPicPr>
        <p:blipFill>
          <a:blip r:embed="rId6"/>
          <a:stretch>
            <a:fillRect/>
          </a:stretch>
        </p:blipFill>
        <p:spPr>
          <a:xfrm>
            <a:off x="874094" y="5086907"/>
            <a:ext cx="6959838" cy="1224512"/>
          </a:xfrm>
          <a:prstGeom prst="rect">
            <a:avLst/>
          </a:prstGeom>
        </p:spPr>
      </p:pic>
      <p:sp>
        <p:nvSpPr>
          <p:cNvPr id="9" name="TextBox 8">
            <a:extLst>
              <a:ext uri="{FF2B5EF4-FFF2-40B4-BE49-F238E27FC236}">
                <a16:creationId xmlns:a16="http://schemas.microsoft.com/office/drawing/2014/main" id="{E511756D-7797-0B89-1979-BA7A71810AF5}"/>
              </a:ext>
            </a:extLst>
          </p:cNvPr>
          <p:cNvSpPr txBox="1"/>
          <p:nvPr/>
        </p:nvSpPr>
        <p:spPr>
          <a:xfrm rot="19702436">
            <a:off x="3261761" y="2992790"/>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2886180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402595" y="902542"/>
            <a:ext cx="3249827" cy="646331"/>
          </a:xfrm>
          <a:prstGeom prst="rect">
            <a:avLst/>
          </a:prstGeom>
          <a:noFill/>
        </p:spPr>
        <p:txBody>
          <a:bodyPr wrap="square" rtlCol="0">
            <a:spAutoFit/>
          </a:bodyPr>
          <a:lstStyle/>
          <a:p>
            <a:r>
              <a:rPr lang="en-US" dirty="0"/>
              <a:t>Details on </a:t>
            </a:r>
            <a:r>
              <a:rPr lang="en-US" sz="1800" b="1" dirty="0">
                <a:effectLst/>
                <a:latin typeface="DejaVuSans"/>
              </a:rPr>
              <a:t>Confusion Matrix </a:t>
            </a:r>
            <a:endParaRPr lang="en-US" dirty="0"/>
          </a:p>
          <a:p>
            <a:endParaRPr lang="en-US" dirty="0"/>
          </a:p>
        </p:txBody>
      </p:sp>
      <p:sp>
        <p:nvSpPr>
          <p:cNvPr id="3" name="TextBox 2">
            <a:extLst>
              <a:ext uri="{FF2B5EF4-FFF2-40B4-BE49-F238E27FC236}">
                <a16:creationId xmlns:a16="http://schemas.microsoft.com/office/drawing/2014/main" id="{45749604-8852-899B-6F2A-E637CCCF9AC7}"/>
              </a:ext>
            </a:extLst>
          </p:cNvPr>
          <p:cNvSpPr txBox="1"/>
          <p:nvPr/>
        </p:nvSpPr>
        <p:spPr>
          <a:xfrm>
            <a:off x="8402595" y="1723857"/>
            <a:ext cx="3621338" cy="2092881"/>
          </a:xfrm>
          <a:prstGeom prst="rect">
            <a:avLst/>
          </a:prstGeom>
          <a:noFill/>
        </p:spPr>
        <p:txBody>
          <a:bodyPr wrap="square" rtlCol="0">
            <a:spAutoFit/>
          </a:bodyPr>
          <a:lstStyle/>
          <a:p>
            <a:r>
              <a:rPr lang="en-US" sz="1400" dirty="0">
                <a:solidFill>
                  <a:schemeClr val="tx1">
                    <a:lumMod val="50000"/>
                    <a:lumOff val="50000"/>
                  </a:schemeClr>
                </a:solidFill>
                <a:latin typeface="DejaVuSans"/>
              </a:rPr>
              <a:t>A confusion matrix is a table that is often used to describe the performance of a classification model (or "classifier") on a set of test data for which the true values are known. The confusion matrix itself is relatively simple to understand, but the related terminology can be confusing. </a:t>
            </a:r>
          </a:p>
          <a:p>
            <a:endParaRPr lang="en-US" sz="1400" dirty="0"/>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1" y="769136"/>
            <a:ext cx="6830093" cy="369332"/>
          </a:xfrm>
          <a:prstGeom prst="rect">
            <a:avLst/>
          </a:prstGeom>
          <a:noFill/>
        </p:spPr>
        <p:txBody>
          <a:bodyPr wrap="square" rtlCol="0">
            <a:spAutoFit/>
          </a:bodyPr>
          <a:lstStyle/>
          <a:p>
            <a:r>
              <a:rPr lang="en-US" sz="1800" b="1" dirty="0">
                <a:effectLst/>
                <a:latin typeface="DejaVuSans"/>
              </a:rPr>
              <a:t>Confusion Matrix </a:t>
            </a:r>
            <a:r>
              <a:rPr lang="en-US" dirty="0"/>
              <a:t>for &lt;use case&gt;</a:t>
            </a:r>
          </a:p>
        </p:txBody>
      </p:sp>
      <p:pic>
        <p:nvPicPr>
          <p:cNvPr id="2" name="Picture 1">
            <a:extLst>
              <a:ext uri="{FF2B5EF4-FFF2-40B4-BE49-F238E27FC236}">
                <a16:creationId xmlns:a16="http://schemas.microsoft.com/office/drawing/2014/main" id="{7C0E73BB-987A-20B4-1BB0-8208CBA4C99E}"/>
              </a:ext>
            </a:extLst>
          </p:cNvPr>
          <p:cNvPicPr>
            <a:picLocks noChangeAspect="1"/>
          </p:cNvPicPr>
          <p:nvPr/>
        </p:nvPicPr>
        <p:blipFill>
          <a:blip r:embed="rId3"/>
          <a:stretch>
            <a:fillRect/>
          </a:stretch>
        </p:blipFill>
        <p:spPr>
          <a:xfrm>
            <a:off x="2222203" y="1577559"/>
            <a:ext cx="3452780" cy="3702881"/>
          </a:xfrm>
          <a:prstGeom prst="rect">
            <a:avLst/>
          </a:prstGeom>
        </p:spPr>
      </p:pic>
      <p:sp>
        <p:nvSpPr>
          <p:cNvPr id="5" name="TextBox 4">
            <a:extLst>
              <a:ext uri="{FF2B5EF4-FFF2-40B4-BE49-F238E27FC236}">
                <a16:creationId xmlns:a16="http://schemas.microsoft.com/office/drawing/2014/main" id="{C1BF541C-36C2-8109-67BB-1BDD767E1526}"/>
              </a:ext>
            </a:extLst>
          </p:cNvPr>
          <p:cNvSpPr txBox="1"/>
          <p:nvPr/>
        </p:nvSpPr>
        <p:spPr>
          <a:xfrm rot="19702436">
            <a:off x="2439887" y="2764654"/>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1167096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402595" y="902542"/>
            <a:ext cx="3249827" cy="1200329"/>
          </a:xfrm>
          <a:prstGeom prst="rect">
            <a:avLst/>
          </a:prstGeom>
          <a:noFill/>
        </p:spPr>
        <p:txBody>
          <a:bodyPr wrap="square" rtlCol="0">
            <a:spAutoFit/>
          </a:bodyPr>
          <a:lstStyle/>
          <a:p>
            <a:r>
              <a:rPr lang="en-US" dirty="0"/>
              <a:t>Details on </a:t>
            </a:r>
            <a:r>
              <a:rPr lang="en-US" sz="1800" b="1" dirty="0">
                <a:effectLst/>
                <a:latin typeface="DejaVuSans"/>
              </a:rPr>
              <a:t>Receiver Operator Characteristic (ROC) Curve </a:t>
            </a:r>
            <a:endParaRPr lang="en-US" dirty="0"/>
          </a:p>
          <a:p>
            <a:endParaRPr lang="en-US" dirty="0"/>
          </a:p>
          <a:p>
            <a:endParaRPr lang="en-US" dirty="0"/>
          </a:p>
        </p:txBody>
      </p:sp>
      <p:sp>
        <p:nvSpPr>
          <p:cNvPr id="3" name="TextBox 2">
            <a:extLst>
              <a:ext uri="{FF2B5EF4-FFF2-40B4-BE49-F238E27FC236}">
                <a16:creationId xmlns:a16="http://schemas.microsoft.com/office/drawing/2014/main" id="{45749604-8852-899B-6F2A-E637CCCF9AC7}"/>
              </a:ext>
            </a:extLst>
          </p:cNvPr>
          <p:cNvSpPr txBox="1"/>
          <p:nvPr/>
        </p:nvSpPr>
        <p:spPr>
          <a:xfrm>
            <a:off x="8402595" y="1723857"/>
            <a:ext cx="3621338" cy="1015663"/>
          </a:xfrm>
          <a:prstGeom prst="rect">
            <a:avLst/>
          </a:prstGeom>
          <a:noFill/>
        </p:spPr>
        <p:txBody>
          <a:bodyPr wrap="square" rtlCol="0">
            <a:spAutoFit/>
          </a:bodyPr>
          <a:lstStyle/>
          <a:p>
            <a:r>
              <a:rPr lang="en-US" sz="1400" dirty="0">
                <a:solidFill>
                  <a:schemeClr val="tx1">
                    <a:lumMod val="50000"/>
                    <a:lumOff val="50000"/>
                  </a:schemeClr>
                </a:solidFill>
                <a:latin typeface="DejaVuSans"/>
              </a:rPr>
              <a:t>Enables comparison of 2 models based on their ability to identify a true positive (an event) as opposed to False positive.</a:t>
            </a:r>
            <a:endParaRPr lang="en-US" sz="1400" dirty="0"/>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1" y="769136"/>
            <a:ext cx="6830093" cy="369332"/>
          </a:xfrm>
          <a:prstGeom prst="rect">
            <a:avLst/>
          </a:prstGeom>
          <a:noFill/>
        </p:spPr>
        <p:txBody>
          <a:bodyPr wrap="square" rtlCol="0">
            <a:spAutoFit/>
          </a:bodyPr>
          <a:lstStyle/>
          <a:p>
            <a:r>
              <a:rPr lang="en-US" sz="1800" b="1" dirty="0">
                <a:effectLst/>
                <a:latin typeface="DejaVuSans"/>
              </a:rPr>
              <a:t>Receiver Operator Characteristic (ROC) Curve </a:t>
            </a:r>
            <a:r>
              <a:rPr lang="en-US" dirty="0"/>
              <a:t>for &lt;use case&gt;</a:t>
            </a:r>
          </a:p>
        </p:txBody>
      </p:sp>
      <p:cxnSp>
        <p:nvCxnSpPr>
          <p:cNvPr id="2" name="Straight Connector 1">
            <a:extLst>
              <a:ext uri="{FF2B5EF4-FFF2-40B4-BE49-F238E27FC236}">
                <a16:creationId xmlns:a16="http://schemas.microsoft.com/office/drawing/2014/main" id="{020FACC0-93FA-1E2F-61CF-3DE69A220B2A}"/>
              </a:ext>
            </a:extLst>
          </p:cNvPr>
          <p:cNvCxnSpPr>
            <a:cxnSpLocks/>
          </p:cNvCxnSpPr>
          <p:nvPr/>
        </p:nvCxnSpPr>
        <p:spPr>
          <a:xfrm>
            <a:off x="8473196" y="4267611"/>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18F31D1-2258-5540-5943-C5E3E721B5F5}"/>
              </a:ext>
            </a:extLst>
          </p:cNvPr>
          <p:cNvCxnSpPr>
            <a:cxnSpLocks/>
          </p:cNvCxnSpPr>
          <p:nvPr/>
        </p:nvCxnSpPr>
        <p:spPr>
          <a:xfrm>
            <a:off x="293023" y="4242898"/>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9DD73FA9-F13A-DAB3-7463-1A1B556FAA69}"/>
              </a:ext>
            </a:extLst>
          </p:cNvPr>
          <p:cNvSpPr txBox="1"/>
          <p:nvPr/>
        </p:nvSpPr>
        <p:spPr>
          <a:xfrm>
            <a:off x="8495270" y="4289310"/>
            <a:ext cx="3249827" cy="2492990"/>
          </a:xfrm>
          <a:prstGeom prst="rect">
            <a:avLst/>
          </a:prstGeom>
          <a:noFill/>
        </p:spPr>
        <p:txBody>
          <a:bodyPr wrap="square" rtlCol="0">
            <a:spAutoFit/>
          </a:bodyPr>
          <a:lstStyle/>
          <a:p>
            <a:r>
              <a:rPr lang="en-US" dirty="0"/>
              <a:t>Details on </a:t>
            </a:r>
            <a:r>
              <a:rPr lang="en-US" sz="1800" b="1" dirty="0">
                <a:effectLst/>
                <a:latin typeface="DejaVuSans"/>
              </a:rPr>
              <a:t>Area Under the ROC (AUC) Curve </a:t>
            </a:r>
            <a:endParaRPr lang="en-US" dirty="0"/>
          </a:p>
          <a:p>
            <a:r>
              <a:rPr lang="en-US" sz="1400" dirty="0">
                <a:solidFill>
                  <a:schemeClr val="tx1">
                    <a:lumMod val="50000"/>
                    <a:lumOff val="50000"/>
                  </a:schemeClr>
                </a:solidFill>
                <a:latin typeface="DejaVuSans"/>
              </a:rPr>
              <a:t>Area under the curve is the probability that the model will rank a randomly chosen event higher than a randomly chosen non-event. Values range from 0 to 1. This measure enables direct comparison across models. </a:t>
            </a:r>
          </a:p>
          <a:p>
            <a:endParaRPr lang="en-US" dirty="0"/>
          </a:p>
          <a:p>
            <a:endParaRPr lang="en-US" dirty="0"/>
          </a:p>
        </p:txBody>
      </p:sp>
      <p:sp>
        <p:nvSpPr>
          <p:cNvPr id="12" name="TextBox 11">
            <a:extLst>
              <a:ext uri="{FF2B5EF4-FFF2-40B4-BE49-F238E27FC236}">
                <a16:creationId xmlns:a16="http://schemas.microsoft.com/office/drawing/2014/main" id="{864CB923-4E07-1B32-D18D-25177EDCEDB8}"/>
              </a:ext>
            </a:extLst>
          </p:cNvPr>
          <p:cNvSpPr txBox="1"/>
          <p:nvPr/>
        </p:nvSpPr>
        <p:spPr>
          <a:xfrm>
            <a:off x="222422" y="4314104"/>
            <a:ext cx="6830093" cy="369332"/>
          </a:xfrm>
          <a:prstGeom prst="rect">
            <a:avLst/>
          </a:prstGeom>
          <a:noFill/>
        </p:spPr>
        <p:txBody>
          <a:bodyPr wrap="square" rtlCol="0">
            <a:spAutoFit/>
          </a:bodyPr>
          <a:lstStyle/>
          <a:p>
            <a:r>
              <a:rPr lang="en-US" sz="1800" b="1" dirty="0">
                <a:effectLst/>
                <a:latin typeface="DejaVuSans"/>
              </a:rPr>
              <a:t>Area under the ROC Curve (AUC) </a:t>
            </a:r>
            <a:r>
              <a:rPr lang="en-US" dirty="0"/>
              <a:t>for &lt;use case&gt;</a:t>
            </a:r>
          </a:p>
        </p:txBody>
      </p:sp>
      <p:pic>
        <p:nvPicPr>
          <p:cNvPr id="5" name="Picture 4">
            <a:extLst>
              <a:ext uri="{FF2B5EF4-FFF2-40B4-BE49-F238E27FC236}">
                <a16:creationId xmlns:a16="http://schemas.microsoft.com/office/drawing/2014/main" id="{E0921166-4E6A-C56E-42CA-ABFCB67F020D}"/>
              </a:ext>
            </a:extLst>
          </p:cNvPr>
          <p:cNvPicPr>
            <a:picLocks noChangeAspect="1"/>
          </p:cNvPicPr>
          <p:nvPr/>
        </p:nvPicPr>
        <p:blipFill>
          <a:blip r:embed="rId3"/>
          <a:stretch>
            <a:fillRect/>
          </a:stretch>
        </p:blipFill>
        <p:spPr>
          <a:xfrm>
            <a:off x="2308224" y="1303634"/>
            <a:ext cx="2962364" cy="2871772"/>
          </a:xfrm>
          <a:prstGeom prst="rect">
            <a:avLst/>
          </a:prstGeom>
        </p:spPr>
      </p:pic>
      <p:pic>
        <p:nvPicPr>
          <p:cNvPr id="13" name="Picture 12">
            <a:extLst>
              <a:ext uri="{FF2B5EF4-FFF2-40B4-BE49-F238E27FC236}">
                <a16:creationId xmlns:a16="http://schemas.microsoft.com/office/drawing/2014/main" id="{64229BA1-2304-61BA-7ECE-85A4F0EA95AA}"/>
              </a:ext>
            </a:extLst>
          </p:cNvPr>
          <p:cNvPicPr>
            <a:picLocks noChangeAspect="1"/>
          </p:cNvPicPr>
          <p:nvPr/>
        </p:nvPicPr>
        <p:blipFill>
          <a:blip r:embed="rId4"/>
          <a:stretch>
            <a:fillRect/>
          </a:stretch>
        </p:blipFill>
        <p:spPr>
          <a:xfrm>
            <a:off x="686185" y="4924218"/>
            <a:ext cx="6206441" cy="1076542"/>
          </a:xfrm>
          <a:prstGeom prst="rect">
            <a:avLst/>
          </a:prstGeom>
        </p:spPr>
      </p:pic>
      <p:sp>
        <p:nvSpPr>
          <p:cNvPr id="14" name="TextBox 13">
            <a:extLst>
              <a:ext uri="{FF2B5EF4-FFF2-40B4-BE49-F238E27FC236}">
                <a16:creationId xmlns:a16="http://schemas.microsoft.com/office/drawing/2014/main" id="{2FEA7463-3689-0BBD-07CB-68EB26636A22}"/>
              </a:ext>
            </a:extLst>
          </p:cNvPr>
          <p:cNvSpPr txBox="1"/>
          <p:nvPr/>
        </p:nvSpPr>
        <p:spPr>
          <a:xfrm rot="19702436">
            <a:off x="3157864" y="2589948"/>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267933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8402595" y="671383"/>
            <a:ext cx="34351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7797113"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8402595" y="902542"/>
            <a:ext cx="3249827" cy="1200329"/>
          </a:xfrm>
          <a:prstGeom prst="rect">
            <a:avLst/>
          </a:prstGeom>
          <a:noFill/>
        </p:spPr>
        <p:txBody>
          <a:bodyPr wrap="square" rtlCol="0">
            <a:spAutoFit/>
          </a:bodyPr>
          <a:lstStyle/>
          <a:p>
            <a:r>
              <a:rPr lang="en-US" dirty="0"/>
              <a:t>Details on </a:t>
            </a:r>
            <a:r>
              <a:rPr lang="en-US" sz="1800" b="1" dirty="0">
                <a:effectLst/>
                <a:latin typeface="DejaVuSans"/>
              </a:rPr>
              <a:t>Precision and Recall (PR) Curve </a:t>
            </a:r>
            <a:endParaRPr lang="en-US" dirty="0"/>
          </a:p>
          <a:p>
            <a:endParaRPr lang="en-US" dirty="0"/>
          </a:p>
          <a:p>
            <a:endParaRPr lang="en-US" dirty="0"/>
          </a:p>
        </p:txBody>
      </p:sp>
      <p:sp>
        <p:nvSpPr>
          <p:cNvPr id="3" name="TextBox 2">
            <a:extLst>
              <a:ext uri="{FF2B5EF4-FFF2-40B4-BE49-F238E27FC236}">
                <a16:creationId xmlns:a16="http://schemas.microsoft.com/office/drawing/2014/main" id="{45749604-8852-899B-6F2A-E637CCCF9AC7}"/>
              </a:ext>
            </a:extLst>
          </p:cNvPr>
          <p:cNvSpPr txBox="1"/>
          <p:nvPr/>
        </p:nvSpPr>
        <p:spPr>
          <a:xfrm>
            <a:off x="8402595" y="1723857"/>
            <a:ext cx="3621338" cy="2092881"/>
          </a:xfrm>
          <a:prstGeom prst="rect">
            <a:avLst/>
          </a:prstGeom>
          <a:noFill/>
        </p:spPr>
        <p:txBody>
          <a:bodyPr wrap="square" rtlCol="0">
            <a:spAutoFit/>
          </a:bodyPr>
          <a:lstStyle/>
          <a:p>
            <a:r>
              <a:rPr lang="en-US" sz="1400" dirty="0">
                <a:solidFill>
                  <a:schemeClr val="tx1">
                    <a:lumMod val="50000"/>
                    <a:lumOff val="50000"/>
                  </a:schemeClr>
                </a:solidFill>
                <a:latin typeface="DejaVuSans"/>
              </a:rPr>
              <a:t>The precision-recall curve shows the tradeoff between precision and recall for different threshold. A high area under the curve represents both high recall and high precision, where high precision relates to a low false positive rate, and high recall relates to a low false negative rate. </a:t>
            </a:r>
          </a:p>
          <a:p>
            <a:endParaRPr lang="en-US" sz="1400" dirty="0"/>
          </a:p>
          <a:p>
            <a:endParaRPr lang="en-US" dirty="0"/>
          </a:p>
        </p:txBody>
      </p:sp>
      <p:sp>
        <p:nvSpPr>
          <p:cNvPr id="4" name="TextBox 3">
            <a:extLst>
              <a:ext uri="{FF2B5EF4-FFF2-40B4-BE49-F238E27FC236}">
                <a16:creationId xmlns:a16="http://schemas.microsoft.com/office/drawing/2014/main" id="{0225B7D3-454A-7D08-A539-A305CEB0BEE7}"/>
              </a:ext>
            </a:extLst>
          </p:cNvPr>
          <p:cNvSpPr txBox="1"/>
          <p:nvPr/>
        </p:nvSpPr>
        <p:spPr>
          <a:xfrm>
            <a:off x="151821" y="769136"/>
            <a:ext cx="6830093" cy="369332"/>
          </a:xfrm>
          <a:prstGeom prst="rect">
            <a:avLst/>
          </a:prstGeom>
          <a:noFill/>
        </p:spPr>
        <p:txBody>
          <a:bodyPr wrap="square" rtlCol="0">
            <a:spAutoFit/>
          </a:bodyPr>
          <a:lstStyle/>
          <a:p>
            <a:r>
              <a:rPr lang="en-US" sz="1800" b="1" dirty="0">
                <a:effectLst/>
                <a:latin typeface="DejaVuSans"/>
              </a:rPr>
              <a:t>Precision Recall Curve (PR) Curve </a:t>
            </a:r>
            <a:r>
              <a:rPr lang="en-US" dirty="0"/>
              <a:t>for &lt;use case&gt;</a:t>
            </a:r>
          </a:p>
        </p:txBody>
      </p:sp>
      <p:pic>
        <p:nvPicPr>
          <p:cNvPr id="13" name="Picture 12">
            <a:extLst>
              <a:ext uri="{FF2B5EF4-FFF2-40B4-BE49-F238E27FC236}">
                <a16:creationId xmlns:a16="http://schemas.microsoft.com/office/drawing/2014/main" id="{F4F7EBD4-BF52-E307-5E3D-0C912B9F8576}"/>
              </a:ext>
            </a:extLst>
          </p:cNvPr>
          <p:cNvPicPr>
            <a:picLocks noChangeAspect="1"/>
          </p:cNvPicPr>
          <p:nvPr/>
        </p:nvPicPr>
        <p:blipFill>
          <a:blip r:embed="rId3"/>
          <a:stretch>
            <a:fillRect/>
          </a:stretch>
        </p:blipFill>
        <p:spPr>
          <a:xfrm>
            <a:off x="1585667" y="1502706"/>
            <a:ext cx="3962400" cy="4102100"/>
          </a:xfrm>
          <a:prstGeom prst="rect">
            <a:avLst/>
          </a:prstGeom>
        </p:spPr>
      </p:pic>
      <p:sp>
        <p:nvSpPr>
          <p:cNvPr id="14" name="TextBox 13">
            <a:extLst>
              <a:ext uri="{FF2B5EF4-FFF2-40B4-BE49-F238E27FC236}">
                <a16:creationId xmlns:a16="http://schemas.microsoft.com/office/drawing/2014/main" id="{A0FDA2A2-7EA1-1544-05F4-617161B5D1AC}"/>
              </a:ext>
            </a:extLst>
          </p:cNvPr>
          <p:cNvSpPr txBox="1"/>
          <p:nvPr/>
        </p:nvSpPr>
        <p:spPr>
          <a:xfrm rot="19702436">
            <a:off x="2439887" y="3105834"/>
            <a:ext cx="3362179" cy="646331"/>
          </a:xfrm>
          <a:prstGeom prst="rect">
            <a:avLst/>
          </a:prstGeom>
          <a:solidFill>
            <a:schemeClr val="accent2"/>
          </a:solidFill>
        </p:spPr>
        <p:txBody>
          <a:bodyPr wrap="square" rtlCol="0">
            <a:spAutoFit/>
          </a:bodyPr>
          <a:lstStyle/>
          <a:p>
            <a:r>
              <a:rPr lang="en-US" dirty="0">
                <a:solidFill>
                  <a:schemeClr val="bg1"/>
                </a:solidFill>
              </a:rPr>
              <a:t>IMAGE GENERATED DYNAMICALLY IN PYTHON</a:t>
            </a:r>
          </a:p>
        </p:txBody>
      </p:sp>
    </p:spTree>
    <p:extLst>
      <p:ext uri="{BB962C8B-B14F-4D97-AF65-F5344CB8AC3E}">
        <p14:creationId xmlns:p14="http://schemas.microsoft.com/office/powerpoint/2010/main" val="4051122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2ECEFC-A0C5-0F55-8C8E-06618C3D9F39}"/>
              </a:ext>
            </a:extLst>
          </p:cNvPr>
          <p:cNvSpPr/>
          <p:nvPr/>
        </p:nvSpPr>
        <p:spPr>
          <a:xfrm>
            <a:off x="0" y="0"/>
            <a:ext cx="8209722"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effectLst/>
            </a:endParaRPr>
          </a:p>
        </p:txBody>
      </p:sp>
      <p:sp>
        <p:nvSpPr>
          <p:cNvPr id="5" name="TextBox 4">
            <a:extLst>
              <a:ext uri="{FF2B5EF4-FFF2-40B4-BE49-F238E27FC236}">
                <a16:creationId xmlns:a16="http://schemas.microsoft.com/office/drawing/2014/main" id="{67728657-EB0C-C842-2834-DB0FC89FC34C}"/>
              </a:ext>
            </a:extLst>
          </p:cNvPr>
          <p:cNvSpPr txBox="1"/>
          <p:nvPr/>
        </p:nvSpPr>
        <p:spPr>
          <a:xfrm>
            <a:off x="1289022" y="3105834"/>
            <a:ext cx="5966358" cy="646331"/>
          </a:xfrm>
          <a:prstGeom prst="rect">
            <a:avLst/>
          </a:prstGeom>
          <a:noFill/>
        </p:spPr>
        <p:txBody>
          <a:bodyPr wrap="square" rtlCol="0">
            <a:spAutoFit/>
          </a:bodyPr>
          <a:lstStyle/>
          <a:p>
            <a:r>
              <a:rPr lang="en-US" sz="3600" dirty="0">
                <a:solidFill>
                  <a:schemeClr val="bg1"/>
                </a:solidFill>
              </a:rPr>
              <a:t>System or Population Stability</a:t>
            </a:r>
          </a:p>
        </p:txBody>
      </p:sp>
      <p:pic>
        <p:nvPicPr>
          <p:cNvPr id="2" name="Picture 1">
            <a:extLst>
              <a:ext uri="{FF2B5EF4-FFF2-40B4-BE49-F238E27FC236}">
                <a16:creationId xmlns:a16="http://schemas.microsoft.com/office/drawing/2014/main" id="{C7BF949E-661B-4F25-7201-FA560D00ED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3" name="TextBox 2">
            <a:extLst>
              <a:ext uri="{FF2B5EF4-FFF2-40B4-BE49-F238E27FC236}">
                <a16:creationId xmlns:a16="http://schemas.microsoft.com/office/drawing/2014/main" id="{02932C3F-56A6-AB69-9D41-69E95A75CEE1}"/>
              </a:ext>
            </a:extLst>
          </p:cNvPr>
          <p:cNvSpPr txBox="1"/>
          <p:nvPr/>
        </p:nvSpPr>
        <p:spPr>
          <a:xfrm>
            <a:off x="8451791" y="1564427"/>
            <a:ext cx="3426863" cy="1600438"/>
          </a:xfrm>
          <a:prstGeom prst="rect">
            <a:avLst/>
          </a:prstGeom>
          <a:noFill/>
        </p:spPr>
        <p:txBody>
          <a:bodyPr wrap="square">
            <a:spAutoFit/>
          </a:bodyPr>
          <a:lstStyle/>
          <a:p>
            <a:r>
              <a:rPr lang="en-US" sz="1400" b="1" dirty="0">
                <a:latin typeface="DejaVuSans"/>
              </a:rPr>
              <a:t>What is System or Population Stability?</a:t>
            </a:r>
          </a:p>
          <a:p>
            <a:endParaRPr lang="en-US" sz="1400" dirty="0">
              <a:latin typeface="Avenir Light" panose="020B0402020203020204" pitchFamily="34" charset="77"/>
            </a:endParaRPr>
          </a:p>
          <a:p>
            <a:r>
              <a:rPr lang="en-US" sz="1400" dirty="0">
                <a:latin typeface="Avenir Light" panose="020B0402020203020204" pitchFamily="34" charset="77"/>
              </a:rPr>
              <a:t>How different is the current data being scored by the model as compared to the data from which the model was developed. Is the model stable over time?</a:t>
            </a:r>
          </a:p>
        </p:txBody>
      </p:sp>
    </p:spTree>
    <p:extLst>
      <p:ext uri="{BB962C8B-B14F-4D97-AF65-F5344CB8AC3E}">
        <p14:creationId xmlns:p14="http://schemas.microsoft.com/office/powerpoint/2010/main" val="353924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7281949" y="646670"/>
            <a:ext cx="455582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6577389"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7149395" y="809255"/>
            <a:ext cx="4555824" cy="369332"/>
          </a:xfrm>
          <a:prstGeom prst="rect">
            <a:avLst/>
          </a:prstGeom>
          <a:noFill/>
        </p:spPr>
        <p:txBody>
          <a:bodyPr wrap="square" rtlCol="0">
            <a:spAutoFit/>
          </a:bodyPr>
          <a:lstStyle/>
          <a:p>
            <a:r>
              <a:rPr lang="en-US" b="1" dirty="0">
                <a:solidFill>
                  <a:srgbClr val="7030A0"/>
                </a:solidFill>
                <a:latin typeface="DejaVuSans"/>
              </a:rPr>
              <a:t>System or Population Stability </a:t>
            </a:r>
            <a:r>
              <a:rPr lang="en-US" sz="1800" b="1" dirty="0">
                <a:solidFill>
                  <a:srgbClr val="7030A0"/>
                </a:solidFill>
                <a:effectLst/>
                <a:latin typeface="DejaVuSans"/>
              </a:rPr>
              <a:t>Analysis </a:t>
            </a:r>
            <a:endParaRPr lang="en-US" dirty="0">
              <a:solidFill>
                <a:srgbClr val="7030A0"/>
              </a:solidFill>
            </a:endParaRPr>
          </a:p>
        </p:txBody>
      </p:sp>
      <p:sp>
        <p:nvSpPr>
          <p:cNvPr id="31" name="TextBox 30">
            <a:extLst>
              <a:ext uri="{FF2B5EF4-FFF2-40B4-BE49-F238E27FC236}">
                <a16:creationId xmlns:a16="http://schemas.microsoft.com/office/drawing/2014/main" id="{C42CAFA5-21C8-F649-7064-02A8D77FD730}"/>
              </a:ext>
            </a:extLst>
          </p:cNvPr>
          <p:cNvSpPr txBox="1"/>
          <p:nvPr/>
        </p:nvSpPr>
        <p:spPr>
          <a:xfrm>
            <a:off x="222422" y="686186"/>
            <a:ext cx="5873578" cy="707886"/>
          </a:xfrm>
          <a:prstGeom prst="rect">
            <a:avLst/>
          </a:prstGeom>
          <a:noFill/>
        </p:spPr>
        <p:txBody>
          <a:bodyPr wrap="square" rtlCol="0">
            <a:spAutoFit/>
          </a:bodyPr>
          <a:lstStyle/>
          <a:p>
            <a:r>
              <a:rPr lang="en-US" sz="2000" b="1" dirty="0">
                <a:solidFill>
                  <a:srgbClr val="7030A0"/>
                </a:solidFill>
              </a:rPr>
              <a:t>Components of </a:t>
            </a:r>
            <a:r>
              <a:rPr lang="en-US" sz="2000" b="1" dirty="0">
                <a:solidFill>
                  <a:srgbClr val="7030A0"/>
                </a:solidFill>
                <a:latin typeface="DejaVuSans"/>
              </a:rPr>
              <a:t>System or Population Stability </a:t>
            </a:r>
          </a:p>
          <a:p>
            <a:endParaRPr lang="en-US" sz="2000" b="1" dirty="0">
              <a:solidFill>
                <a:srgbClr val="7030A0"/>
              </a:solidFill>
            </a:endParaRPr>
          </a:p>
        </p:txBody>
      </p:sp>
      <p:sp>
        <p:nvSpPr>
          <p:cNvPr id="2" name="TextBox 1">
            <a:extLst>
              <a:ext uri="{FF2B5EF4-FFF2-40B4-BE49-F238E27FC236}">
                <a16:creationId xmlns:a16="http://schemas.microsoft.com/office/drawing/2014/main" id="{2CBA4FE2-2170-A475-1BE9-9D25674C9521}"/>
              </a:ext>
            </a:extLst>
          </p:cNvPr>
          <p:cNvSpPr txBox="1"/>
          <p:nvPr/>
        </p:nvSpPr>
        <p:spPr>
          <a:xfrm>
            <a:off x="7149395" y="1178587"/>
            <a:ext cx="4688378" cy="5355312"/>
          </a:xfrm>
          <a:prstGeom prst="rect">
            <a:avLst/>
          </a:prstGeom>
          <a:noFill/>
        </p:spPr>
        <p:txBody>
          <a:bodyPr wrap="square" rtlCol="0">
            <a:spAutoFit/>
          </a:bodyPr>
          <a:lstStyle/>
          <a:p>
            <a:r>
              <a:rPr lang="en-US" dirty="0">
                <a:solidFill>
                  <a:schemeClr val="tx1">
                    <a:lumMod val="50000"/>
                    <a:lumOff val="50000"/>
                  </a:schemeClr>
                </a:solidFill>
                <a:latin typeface="DejaVuSans"/>
              </a:rPr>
              <a:t>System or population stability compares the data sample the model was developed on with a more recent data sample on which the model has been used. The discriminatory power of a model is based on information contained in the development dataset, and hence large variances from this may cause model performance to deteriorate or make the model unfit for purpose. The Population Stability Index (PSI) is the standard measure for system stability and is also recommended by most regulatory bodies. The PSI is also applicable to models that predict continuous outcomes. The transition matrix is critical to PD models and is in most cases a required submission to regulators. Thresholds for the degree of transition that is deemed acceptable are usually set internally by the institution. </a:t>
            </a:r>
          </a:p>
          <a:p>
            <a:endParaRPr lang="en-US" dirty="0"/>
          </a:p>
        </p:txBody>
      </p:sp>
      <p:pic>
        <p:nvPicPr>
          <p:cNvPr id="3" name="Picture 2">
            <a:extLst>
              <a:ext uri="{FF2B5EF4-FFF2-40B4-BE49-F238E27FC236}">
                <a16:creationId xmlns:a16="http://schemas.microsoft.com/office/drawing/2014/main" id="{323046B5-808A-5F1E-E753-5E676CC2472B}"/>
              </a:ext>
            </a:extLst>
          </p:cNvPr>
          <p:cNvPicPr>
            <a:picLocks noChangeAspect="1"/>
          </p:cNvPicPr>
          <p:nvPr/>
        </p:nvPicPr>
        <p:blipFill>
          <a:blip r:embed="rId3"/>
          <a:stretch>
            <a:fillRect/>
          </a:stretch>
        </p:blipFill>
        <p:spPr>
          <a:xfrm>
            <a:off x="222422" y="1754858"/>
            <a:ext cx="6513743" cy="3073361"/>
          </a:xfrm>
          <a:prstGeom prst="rect">
            <a:avLst/>
          </a:prstGeom>
        </p:spPr>
      </p:pic>
      <p:sp>
        <p:nvSpPr>
          <p:cNvPr id="4" name="TextBox 3">
            <a:extLst>
              <a:ext uri="{FF2B5EF4-FFF2-40B4-BE49-F238E27FC236}">
                <a16:creationId xmlns:a16="http://schemas.microsoft.com/office/drawing/2014/main" id="{89388F76-5082-6854-CF56-073546DF5974}"/>
              </a:ext>
            </a:extLst>
          </p:cNvPr>
          <p:cNvSpPr txBox="1"/>
          <p:nvPr/>
        </p:nvSpPr>
        <p:spPr>
          <a:xfrm rot="19702436">
            <a:off x="1895930" y="3313294"/>
            <a:ext cx="3362179" cy="646331"/>
          </a:xfrm>
          <a:prstGeom prst="rect">
            <a:avLst/>
          </a:prstGeom>
          <a:solidFill>
            <a:srgbClr val="00B0F0"/>
          </a:solidFill>
        </p:spPr>
        <p:txBody>
          <a:bodyPr wrap="square" rtlCol="0">
            <a:spAutoFit/>
          </a:bodyPr>
          <a:lstStyle/>
          <a:p>
            <a:r>
              <a:rPr lang="en-US" dirty="0">
                <a:solidFill>
                  <a:schemeClr val="bg1"/>
                </a:solidFill>
              </a:rPr>
              <a:t>ALL TABLES WITH LOOK  AS IN SLIDE #4 </a:t>
            </a:r>
          </a:p>
        </p:txBody>
      </p:sp>
    </p:spTree>
    <p:extLst>
      <p:ext uri="{BB962C8B-B14F-4D97-AF65-F5344CB8AC3E}">
        <p14:creationId xmlns:p14="http://schemas.microsoft.com/office/powerpoint/2010/main" val="506436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7281949" y="646670"/>
            <a:ext cx="455582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6577389"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7215672" y="686186"/>
            <a:ext cx="4555824" cy="400110"/>
          </a:xfrm>
          <a:prstGeom prst="rect">
            <a:avLst/>
          </a:prstGeom>
          <a:noFill/>
        </p:spPr>
        <p:txBody>
          <a:bodyPr wrap="square" rtlCol="0">
            <a:spAutoFit/>
          </a:bodyPr>
          <a:lstStyle/>
          <a:p>
            <a:r>
              <a:rPr lang="en-US" sz="2000" b="1" dirty="0">
                <a:solidFill>
                  <a:srgbClr val="7030A0"/>
                </a:solidFill>
                <a:latin typeface="DejaVuSans"/>
              </a:rPr>
              <a:t>Population Stability Index (PSI) </a:t>
            </a:r>
          </a:p>
        </p:txBody>
      </p:sp>
      <p:sp>
        <p:nvSpPr>
          <p:cNvPr id="31" name="TextBox 30">
            <a:extLst>
              <a:ext uri="{FF2B5EF4-FFF2-40B4-BE49-F238E27FC236}">
                <a16:creationId xmlns:a16="http://schemas.microsoft.com/office/drawing/2014/main" id="{C42CAFA5-21C8-F649-7064-02A8D77FD730}"/>
              </a:ext>
            </a:extLst>
          </p:cNvPr>
          <p:cNvSpPr txBox="1"/>
          <p:nvPr/>
        </p:nvSpPr>
        <p:spPr>
          <a:xfrm>
            <a:off x="222422" y="686186"/>
            <a:ext cx="5873578" cy="707886"/>
          </a:xfrm>
          <a:prstGeom prst="rect">
            <a:avLst/>
          </a:prstGeom>
          <a:noFill/>
        </p:spPr>
        <p:txBody>
          <a:bodyPr wrap="square" rtlCol="0">
            <a:spAutoFit/>
          </a:bodyPr>
          <a:lstStyle/>
          <a:p>
            <a:r>
              <a:rPr lang="en-US" sz="2000" b="1" dirty="0">
                <a:solidFill>
                  <a:srgbClr val="7030A0"/>
                </a:solidFill>
                <a:latin typeface="DejaVuSans"/>
              </a:rPr>
              <a:t>Population Stability Index (PSI) </a:t>
            </a:r>
          </a:p>
          <a:p>
            <a:endParaRPr lang="en-US" sz="2000" b="1" dirty="0">
              <a:solidFill>
                <a:srgbClr val="7030A0"/>
              </a:solidFill>
            </a:endParaRPr>
          </a:p>
        </p:txBody>
      </p:sp>
      <p:sp>
        <p:nvSpPr>
          <p:cNvPr id="2" name="TextBox 1">
            <a:extLst>
              <a:ext uri="{FF2B5EF4-FFF2-40B4-BE49-F238E27FC236}">
                <a16:creationId xmlns:a16="http://schemas.microsoft.com/office/drawing/2014/main" id="{2CBA4FE2-2170-A475-1BE9-9D25674C9521}"/>
              </a:ext>
            </a:extLst>
          </p:cNvPr>
          <p:cNvSpPr txBox="1"/>
          <p:nvPr/>
        </p:nvSpPr>
        <p:spPr>
          <a:xfrm>
            <a:off x="7149395" y="1178587"/>
            <a:ext cx="4688378" cy="5324535"/>
          </a:xfrm>
          <a:prstGeom prst="rect">
            <a:avLst/>
          </a:prstGeom>
          <a:noFill/>
        </p:spPr>
        <p:txBody>
          <a:bodyPr wrap="square" rtlCol="0">
            <a:spAutoFit/>
          </a:bodyPr>
          <a:lstStyle/>
          <a:p>
            <a:r>
              <a:rPr lang="en-US" sz="1400" dirty="0">
                <a:solidFill>
                  <a:schemeClr val="tx1">
                    <a:lumMod val="50000"/>
                    <a:lumOff val="50000"/>
                  </a:schemeClr>
                </a:solidFill>
                <a:latin typeface="DejaVuSans"/>
              </a:rPr>
              <a:t>Population Stability Index (PSI) compares the distribution of a scoring variable (predicted probability) in scoring data set to a training data set that was used to develop the model. We answer the question ""How the current scoring is compared to the predicted probability from training data set ?". There are multiple uses of Population Stability Index (PSI). They are listed below - </a:t>
            </a:r>
          </a:p>
          <a:p>
            <a:r>
              <a:rPr lang="en-US" sz="1400" dirty="0">
                <a:solidFill>
                  <a:schemeClr val="tx1">
                    <a:lumMod val="50000"/>
                    <a:lumOff val="50000"/>
                  </a:schemeClr>
                </a:solidFill>
                <a:latin typeface="DejaVuSans"/>
              </a:rPr>
              <a:t>1. Model might be influenced by economic changes. Suppose you built a risk model during economic recession (year 2008) and you are using the same model to score datasets in year 2016. There is a high chance that various attributes of the model are changed drastically over last 8 years. It means it does not make sense to use this model anymore if features of the model are changed significantly. </a:t>
            </a:r>
          </a:p>
          <a:p>
            <a:r>
              <a:rPr lang="en-US" sz="1400" dirty="0">
                <a:solidFill>
                  <a:schemeClr val="tx1">
                    <a:lumMod val="50000"/>
                    <a:lumOff val="50000"/>
                  </a:schemeClr>
                </a:solidFill>
                <a:latin typeface="DejaVuSans"/>
              </a:rPr>
              <a:t>2. Change in product offerings due to internal policy changes. For example, one of your product are relaunched recently so attributes may behave differently as compared to attributes of your model. </a:t>
            </a:r>
          </a:p>
          <a:p>
            <a:r>
              <a:rPr lang="en-US" sz="1400" dirty="0">
                <a:solidFill>
                  <a:schemeClr val="tx1">
                    <a:lumMod val="50000"/>
                    <a:lumOff val="50000"/>
                  </a:schemeClr>
                </a:solidFill>
                <a:latin typeface="DejaVuSans"/>
              </a:rPr>
              <a:t>3. PSI can detect if any data integration or programming issues to run the scoring code. </a:t>
            </a:r>
          </a:p>
          <a:p>
            <a:r>
              <a:rPr lang="en-US" sz="1400" dirty="0">
                <a:solidFill>
                  <a:schemeClr val="tx1">
                    <a:lumMod val="50000"/>
                    <a:lumOff val="50000"/>
                  </a:schemeClr>
                </a:solidFill>
                <a:latin typeface="DejaVuSans"/>
              </a:rPr>
              <a:t>PSI = (% of records based on dependent variable in Scoring Dataset (A) - % of records based on dependent variable in Training Sample (B)) * In(A/ B) </a:t>
            </a:r>
          </a:p>
          <a:p>
            <a:endParaRPr lang="en-US" dirty="0"/>
          </a:p>
        </p:txBody>
      </p:sp>
      <p:pic>
        <p:nvPicPr>
          <p:cNvPr id="4" name="Picture 3">
            <a:extLst>
              <a:ext uri="{FF2B5EF4-FFF2-40B4-BE49-F238E27FC236}">
                <a16:creationId xmlns:a16="http://schemas.microsoft.com/office/drawing/2014/main" id="{1FF037AE-FB50-83A3-E360-121B248341D2}"/>
              </a:ext>
            </a:extLst>
          </p:cNvPr>
          <p:cNvPicPr>
            <a:picLocks noChangeAspect="1"/>
          </p:cNvPicPr>
          <p:nvPr/>
        </p:nvPicPr>
        <p:blipFill>
          <a:blip r:embed="rId3"/>
          <a:stretch>
            <a:fillRect/>
          </a:stretch>
        </p:blipFill>
        <p:spPr>
          <a:xfrm>
            <a:off x="285861" y="2334003"/>
            <a:ext cx="6577389" cy="1549544"/>
          </a:xfrm>
          <a:prstGeom prst="rect">
            <a:avLst/>
          </a:prstGeom>
        </p:spPr>
      </p:pic>
      <p:sp>
        <p:nvSpPr>
          <p:cNvPr id="9" name="TextBox 8">
            <a:extLst>
              <a:ext uri="{FF2B5EF4-FFF2-40B4-BE49-F238E27FC236}">
                <a16:creationId xmlns:a16="http://schemas.microsoft.com/office/drawing/2014/main" id="{51D21C2B-7833-DA1B-6C83-F825ED56516B}"/>
              </a:ext>
            </a:extLst>
          </p:cNvPr>
          <p:cNvSpPr txBox="1"/>
          <p:nvPr/>
        </p:nvSpPr>
        <p:spPr>
          <a:xfrm>
            <a:off x="222422" y="4935004"/>
            <a:ext cx="6511664" cy="646331"/>
          </a:xfrm>
          <a:prstGeom prst="rect">
            <a:avLst/>
          </a:prstGeom>
          <a:noFill/>
        </p:spPr>
        <p:txBody>
          <a:bodyPr wrap="square">
            <a:spAutoFit/>
          </a:bodyPr>
          <a:lstStyle/>
          <a:p>
            <a:r>
              <a:rPr lang="en-US" sz="900" b="1" dirty="0"/>
              <a:t>References</a:t>
            </a:r>
          </a:p>
          <a:p>
            <a:endParaRPr lang="en-US" sz="900" dirty="0"/>
          </a:p>
          <a:p>
            <a:r>
              <a:rPr lang="en-US" sz="900" i="1" dirty="0" err="1"/>
              <a:t>Yurdakul</a:t>
            </a:r>
            <a:r>
              <a:rPr lang="en-US" sz="900" i="1" dirty="0"/>
              <a:t>, Bilal, "Statistical Properties of Population Stability Index" (2018). Dissertations. 3208. https://</a:t>
            </a:r>
            <a:r>
              <a:rPr lang="en-US" sz="900" i="1" dirty="0" err="1"/>
              <a:t>scholarworks.wmich.edu</a:t>
            </a:r>
            <a:r>
              <a:rPr lang="en-US" sz="900" i="1" dirty="0"/>
              <a:t>/dissertations/3208</a:t>
            </a:r>
          </a:p>
        </p:txBody>
      </p:sp>
      <p:sp>
        <p:nvSpPr>
          <p:cNvPr id="10" name="TextBox 9">
            <a:extLst>
              <a:ext uri="{FF2B5EF4-FFF2-40B4-BE49-F238E27FC236}">
                <a16:creationId xmlns:a16="http://schemas.microsoft.com/office/drawing/2014/main" id="{2CE9238E-C567-9F08-EE20-9E436B62CAFA}"/>
              </a:ext>
            </a:extLst>
          </p:cNvPr>
          <p:cNvSpPr txBox="1"/>
          <p:nvPr/>
        </p:nvSpPr>
        <p:spPr>
          <a:xfrm rot="19702436">
            <a:off x="1895930" y="3313294"/>
            <a:ext cx="3362179" cy="646331"/>
          </a:xfrm>
          <a:prstGeom prst="rect">
            <a:avLst/>
          </a:prstGeom>
          <a:solidFill>
            <a:srgbClr val="00B0F0"/>
          </a:solidFill>
        </p:spPr>
        <p:txBody>
          <a:bodyPr wrap="square" rtlCol="0">
            <a:spAutoFit/>
          </a:bodyPr>
          <a:lstStyle/>
          <a:p>
            <a:r>
              <a:rPr lang="en-US" dirty="0">
                <a:solidFill>
                  <a:schemeClr val="bg1"/>
                </a:solidFill>
              </a:rPr>
              <a:t>ALL TABLES WITH LOOK  AS IN SLIDE #4 </a:t>
            </a:r>
          </a:p>
        </p:txBody>
      </p:sp>
    </p:spTree>
    <p:extLst>
      <p:ext uri="{BB962C8B-B14F-4D97-AF65-F5344CB8AC3E}">
        <p14:creationId xmlns:p14="http://schemas.microsoft.com/office/powerpoint/2010/main" val="2306533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2ECEFC-A0C5-0F55-8C8E-06618C3D9F39}"/>
              </a:ext>
            </a:extLst>
          </p:cNvPr>
          <p:cNvSpPr/>
          <p:nvPr/>
        </p:nvSpPr>
        <p:spPr>
          <a:xfrm>
            <a:off x="0" y="0"/>
            <a:ext cx="8209722"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effectLst/>
            </a:endParaRPr>
          </a:p>
        </p:txBody>
      </p:sp>
      <p:sp>
        <p:nvSpPr>
          <p:cNvPr id="5" name="TextBox 4">
            <a:extLst>
              <a:ext uri="{FF2B5EF4-FFF2-40B4-BE49-F238E27FC236}">
                <a16:creationId xmlns:a16="http://schemas.microsoft.com/office/drawing/2014/main" id="{67728657-EB0C-C842-2834-DB0FC89FC34C}"/>
              </a:ext>
            </a:extLst>
          </p:cNvPr>
          <p:cNvSpPr txBox="1"/>
          <p:nvPr/>
        </p:nvSpPr>
        <p:spPr>
          <a:xfrm>
            <a:off x="1289022" y="3105834"/>
            <a:ext cx="5966358" cy="646331"/>
          </a:xfrm>
          <a:prstGeom prst="rect">
            <a:avLst/>
          </a:prstGeom>
          <a:noFill/>
        </p:spPr>
        <p:txBody>
          <a:bodyPr wrap="square" rtlCol="0">
            <a:spAutoFit/>
          </a:bodyPr>
          <a:lstStyle/>
          <a:p>
            <a:r>
              <a:rPr lang="en-US" sz="3600" dirty="0">
                <a:solidFill>
                  <a:schemeClr val="bg1"/>
                </a:solidFill>
              </a:rPr>
              <a:t>Characteristic Stability</a:t>
            </a:r>
          </a:p>
        </p:txBody>
      </p:sp>
      <p:pic>
        <p:nvPicPr>
          <p:cNvPr id="2" name="Picture 1">
            <a:extLst>
              <a:ext uri="{FF2B5EF4-FFF2-40B4-BE49-F238E27FC236}">
                <a16:creationId xmlns:a16="http://schemas.microsoft.com/office/drawing/2014/main" id="{C7BF949E-661B-4F25-7201-FA560D00ED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6" name="TextBox 5">
            <a:extLst>
              <a:ext uri="{FF2B5EF4-FFF2-40B4-BE49-F238E27FC236}">
                <a16:creationId xmlns:a16="http://schemas.microsoft.com/office/drawing/2014/main" id="{B7C9A809-F455-02F5-FBC2-DF790EEE55C8}"/>
              </a:ext>
            </a:extLst>
          </p:cNvPr>
          <p:cNvSpPr txBox="1"/>
          <p:nvPr/>
        </p:nvSpPr>
        <p:spPr>
          <a:xfrm>
            <a:off x="8451791" y="1564427"/>
            <a:ext cx="3426863" cy="1815882"/>
          </a:xfrm>
          <a:prstGeom prst="rect">
            <a:avLst/>
          </a:prstGeom>
          <a:noFill/>
        </p:spPr>
        <p:txBody>
          <a:bodyPr wrap="square">
            <a:spAutoFit/>
          </a:bodyPr>
          <a:lstStyle/>
          <a:p>
            <a:r>
              <a:rPr lang="en-US" sz="1400" b="1" dirty="0">
                <a:latin typeface="DejaVuSans"/>
              </a:rPr>
              <a:t>What is Characteristic Stability?</a:t>
            </a:r>
          </a:p>
          <a:p>
            <a:endParaRPr lang="en-US" sz="1400" dirty="0">
              <a:latin typeface="Avenir Light" panose="020B0402020203020204" pitchFamily="34" charset="77"/>
            </a:endParaRPr>
          </a:p>
          <a:p>
            <a:r>
              <a:rPr lang="en-US" sz="1400" dirty="0">
                <a:latin typeface="Avenir Light" panose="020B0402020203020204" pitchFamily="34" charset="77"/>
              </a:rPr>
              <a:t>How different is the distribution of the current population for each explanatory variable in the model compared to the population used for model development? What impact does this have on model performance? </a:t>
            </a:r>
          </a:p>
        </p:txBody>
      </p:sp>
    </p:spTree>
    <p:extLst>
      <p:ext uri="{BB962C8B-B14F-4D97-AF65-F5344CB8AC3E}">
        <p14:creationId xmlns:p14="http://schemas.microsoft.com/office/powerpoint/2010/main" val="2878602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7281949" y="646670"/>
            <a:ext cx="455582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6577389"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7215672" y="686186"/>
            <a:ext cx="4555824" cy="400110"/>
          </a:xfrm>
          <a:prstGeom prst="rect">
            <a:avLst/>
          </a:prstGeom>
          <a:noFill/>
        </p:spPr>
        <p:txBody>
          <a:bodyPr wrap="square" rtlCol="0">
            <a:spAutoFit/>
          </a:bodyPr>
          <a:lstStyle/>
          <a:p>
            <a:r>
              <a:rPr lang="en-US" sz="2000" b="1" dirty="0">
                <a:solidFill>
                  <a:srgbClr val="7030A0"/>
                </a:solidFill>
                <a:latin typeface="DejaVuSans"/>
              </a:rPr>
              <a:t>Population Stability Index (PSI) </a:t>
            </a:r>
          </a:p>
        </p:txBody>
      </p:sp>
      <p:sp>
        <p:nvSpPr>
          <p:cNvPr id="31" name="TextBox 30">
            <a:extLst>
              <a:ext uri="{FF2B5EF4-FFF2-40B4-BE49-F238E27FC236}">
                <a16:creationId xmlns:a16="http://schemas.microsoft.com/office/drawing/2014/main" id="{C42CAFA5-21C8-F649-7064-02A8D77FD730}"/>
              </a:ext>
            </a:extLst>
          </p:cNvPr>
          <p:cNvSpPr txBox="1"/>
          <p:nvPr/>
        </p:nvSpPr>
        <p:spPr>
          <a:xfrm>
            <a:off x="222422" y="686186"/>
            <a:ext cx="5873578" cy="707886"/>
          </a:xfrm>
          <a:prstGeom prst="rect">
            <a:avLst/>
          </a:prstGeom>
          <a:noFill/>
        </p:spPr>
        <p:txBody>
          <a:bodyPr wrap="square" rtlCol="0">
            <a:spAutoFit/>
          </a:bodyPr>
          <a:lstStyle/>
          <a:p>
            <a:r>
              <a:rPr lang="en-US" sz="2000" b="1" dirty="0">
                <a:solidFill>
                  <a:srgbClr val="7030A0"/>
                </a:solidFill>
                <a:latin typeface="DejaVuSans"/>
              </a:rPr>
              <a:t>Population Stability Index (PSI) </a:t>
            </a:r>
          </a:p>
          <a:p>
            <a:endParaRPr lang="en-US" sz="2000" b="1" dirty="0">
              <a:solidFill>
                <a:srgbClr val="7030A0"/>
              </a:solidFill>
            </a:endParaRPr>
          </a:p>
        </p:txBody>
      </p:sp>
      <p:sp>
        <p:nvSpPr>
          <p:cNvPr id="2" name="TextBox 1">
            <a:extLst>
              <a:ext uri="{FF2B5EF4-FFF2-40B4-BE49-F238E27FC236}">
                <a16:creationId xmlns:a16="http://schemas.microsoft.com/office/drawing/2014/main" id="{2CBA4FE2-2170-A475-1BE9-9D25674C9521}"/>
              </a:ext>
            </a:extLst>
          </p:cNvPr>
          <p:cNvSpPr txBox="1"/>
          <p:nvPr/>
        </p:nvSpPr>
        <p:spPr>
          <a:xfrm>
            <a:off x="7149395" y="1178587"/>
            <a:ext cx="4688378" cy="5324535"/>
          </a:xfrm>
          <a:prstGeom prst="rect">
            <a:avLst/>
          </a:prstGeom>
          <a:noFill/>
        </p:spPr>
        <p:txBody>
          <a:bodyPr wrap="square" rtlCol="0">
            <a:spAutoFit/>
          </a:bodyPr>
          <a:lstStyle/>
          <a:p>
            <a:r>
              <a:rPr lang="en-US" sz="1400" dirty="0">
                <a:solidFill>
                  <a:schemeClr val="tx1">
                    <a:lumMod val="50000"/>
                    <a:lumOff val="50000"/>
                  </a:schemeClr>
                </a:solidFill>
                <a:latin typeface="DejaVuSans"/>
              </a:rPr>
              <a:t>Population Stability Index (PSI) compares the distribution of a scoring variable (predicted probability) in scoring data set to a training data set that was used to develop the model. We answer the question ""How the current scoring is compared to the predicted probability from training data set ?". There are multiple uses of Population Stability Index (PSI). They are listed below - </a:t>
            </a:r>
          </a:p>
          <a:p>
            <a:r>
              <a:rPr lang="en-US" sz="1400" dirty="0">
                <a:solidFill>
                  <a:schemeClr val="tx1">
                    <a:lumMod val="50000"/>
                    <a:lumOff val="50000"/>
                  </a:schemeClr>
                </a:solidFill>
                <a:latin typeface="DejaVuSans"/>
              </a:rPr>
              <a:t>1. Model might be influenced by economic changes. Suppose you built a risk model during economic recession (year 2008) and you are using the same model to score datasets in year 2016. There is a high chance that various attributes of the model are changed drastically over last 8 years. It means it does not make sense to use this model anymore if features of the model are changed significantly. </a:t>
            </a:r>
          </a:p>
          <a:p>
            <a:r>
              <a:rPr lang="en-US" sz="1400" dirty="0">
                <a:solidFill>
                  <a:schemeClr val="tx1">
                    <a:lumMod val="50000"/>
                    <a:lumOff val="50000"/>
                  </a:schemeClr>
                </a:solidFill>
                <a:latin typeface="DejaVuSans"/>
              </a:rPr>
              <a:t>2. Change in product offerings due to internal policy changes. For example, one of your product are relaunched recently so attributes may behave differently as compared to attributes of your model. </a:t>
            </a:r>
          </a:p>
          <a:p>
            <a:r>
              <a:rPr lang="en-US" sz="1400" dirty="0">
                <a:solidFill>
                  <a:schemeClr val="tx1">
                    <a:lumMod val="50000"/>
                    <a:lumOff val="50000"/>
                  </a:schemeClr>
                </a:solidFill>
                <a:latin typeface="DejaVuSans"/>
              </a:rPr>
              <a:t>3. PSI can detect if any data integration or programming issues to run the scoring code. </a:t>
            </a:r>
          </a:p>
          <a:p>
            <a:r>
              <a:rPr lang="en-US" sz="1400" dirty="0">
                <a:solidFill>
                  <a:schemeClr val="tx1">
                    <a:lumMod val="50000"/>
                    <a:lumOff val="50000"/>
                  </a:schemeClr>
                </a:solidFill>
                <a:latin typeface="DejaVuSans"/>
              </a:rPr>
              <a:t>PSI = (% of records based on dependent variable in Scoring Dataset (A) - % of records based on dependent variable in Training Sample (B)) * In(A/ B) </a:t>
            </a:r>
          </a:p>
          <a:p>
            <a:endParaRPr lang="en-US" dirty="0"/>
          </a:p>
        </p:txBody>
      </p:sp>
      <p:pic>
        <p:nvPicPr>
          <p:cNvPr id="4" name="Picture 3">
            <a:extLst>
              <a:ext uri="{FF2B5EF4-FFF2-40B4-BE49-F238E27FC236}">
                <a16:creationId xmlns:a16="http://schemas.microsoft.com/office/drawing/2014/main" id="{1FF037AE-FB50-83A3-E360-121B248341D2}"/>
              </a:ext>
            </a:extLst>
          </p:cNvPr>
          <p:cNvPicPr>
            <a:picLocks noChangeAspect="1"/>
          </p:cNvPicPr>
          <p:nvPr/>
        </p:nvPicPr>
        <p:blipFill>
          <a:blip r:embed="rId3"/>
          <a:stretch>
            <a:fillRect/>
          </a:stretch>
        </p:blipFill>
        <p:spPr>
          <a:xfrm>
            <a:off x="222421" y="1879456"/>
            <a:ext cx="6577389" cy="1549544"/>
          </a:xfrm>
          <a:prstGeom prst="rect">
            <a:avLst/>
          </a:prstGeom>
        </p:spPr>
      </p:pic>
    </p:spTree>
    <p:extLst>
      <p:ext uri="{BB962C8B-B14F-4D97-AF65-F5344CB8AC3E}">
        <p14:creationId xmlns:p14="http://schemas.microsoft.com/office/powerpoint/2010/main" val="761609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94EE24F-A15C-3447-DE93-6002B4940FFE}"/>
              </a:ext>
            </a:extLst>
          </p:cNvPr>
          <p:cNvCxnSpPr>
            <a:cxnSpLocks/>
          </p:cNvCxnSpPr>
          <p:nvPr/>
        </p:nvCxnSpPr>
        <p:spPr>
          <a:xfrm>
            <a:off x="7281949" y="646670"/>
            <a:ext cx="455582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58D612E-2AA6-C06C-6DE6-3A57E42B1F18}"/>
              </a:ext>
            </a:extLst>
          </p:cNvPr>
          <p:cNvCxnSpPr>
            <a:cxnSpLocks/>
          </p:cNvCxnSpPr>
          <p:nvPr/>
        </p:nvCxnSpPr>
        <p:spPr>
          <a:xfrm>
            <a:off x="222422" y="646670"/>
            <a:ext cx="6577389"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6FEDB333-95AC-C661-8C90-43C8DA500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2154" y="6231367"/>
            <a:ext cx="1215390" cy="238125"/>
          </a:xfrm>
          <a:prstGeom prst="rect">
            <a:avLst/>
          </a:prstGeom>
        </p:spPr>
      </p:pic>
      <p:sp>
        <p:nvSpPr>
          <p:cNvPr id="11" name="TextBox 10">
            <a:extLst>
              <a:ext uri="{FF2B5EF4-FFF2-40B4-BE49-F238E27FC236}">
                <a16:creationId xmlns:a16="http://schemas.microsoft.com/office/drawing/2014/main" id="{186AF89C-817A-CF7C-5D27-6A61FD4D2906}"/>
              </a:ext>
            </a:extLst>
          </p:cNvPr>
          <p:cNvSpPr txBox="1"/>
          <p:nvPr/>
        </p:nvSpPr>
        <p:spPr>
          <a:xfrm>
            <a:off x="7215672" y="686186"/>
            <a:ext cx="4555824" cy="400110"/>
          </a:xfrm>
          <a:prstGeom prst="rect">
            <a:avLst/>
          </a:prstGeom>
          <a:noFill/>
        </p:spPr>
        <p:txBody>
          <a:bodyPr wrap="square" rtlCol="0">
            <a:spAutoFit/>
          </a:bodyPr>
          <a:lstStyle/>
          <a:p>
            <a:r>
              <a:rPr lang="en-US" sz="2000" b="1" dirty="0">
                <a:solidFill>
                  <a:srgbClr val="7030A0"/>
                </a:solidFill>
                <a:latin typeface="DejaVuSans"/>
              </a:rPr>
              <a:t>Population Stability Index (PSI) </a:t>
            </a:r>
          </a:p>
        </p:txBody>
      </p:sp>
      <p:sp>
        <p:nvSpPr>
          <p:cNvPr id="31" name="TextBox 30">
            <a:extLst>
              <a:ext uri="{FF2B5EF4-FFF2-40B4-BE49-F238E27FC236}">
                <a16:creationId xmlns:a16="http://schemas.microsoft.com/office/drawing/2014/main" id="{C42CAFA5-21C8-F649-7064-02A8D77FD730}"/>
              </a:ext>
            </a:extLst>
          </p:cNvPr>
          <p:cNvSpPr txBox="1"/>
          <p:nvPr/>
        </p:nvSpPr>
        <p:spPr>
          <a:xfrm>
            <a:off x="222422" y="686186"/>
            <a:ext cx="5873578" cy="707886"/>
          </a:xfrm>
          <a:prstGeom prst="rect">
            <a:avLst/>
          </a:prstGeom>
          <a:noFill/>
        </p:spPr>
        <p:txBody>
          <a:bodyPr wrap="square" rtlCol="0">
            <a:spAutoFit/>
          </a:bodyPr>
          <a:lstStyle/>
          <a:p>
            <a:r>
              <a:rPr lang="en-US" sz="2000" b="1" dirty="0">
                <a:solidFill>
                  <a:srgbClr val="7030A0"/>
                </a:solidFill>
                <a:latin typeface="DejaVuSans"/>
              </a:rPr>
              <a:t>Population Stability Index (PSI) </a:t>
            </a:r>
          </a:p>
          <a:p>
            <a:endParaRPr lang="en-US" sz="2000" b="1" dirty="0">
              <a:solidFill>
                <a:srgbClr val="7030A0"/>
              </a:solidFill>
            </a:endParaRPr>
          </a:p>
        </p:txBody>
      </p:sp>
      <p:sp>
        <p:nvSpPr>
          <p:cNvPr id="2" name="TextBox 1">
            <a:extLst>
              <a:ext uri="{FF2B5EF4-FFF2-40B4-BE49-F238E27FC236}">
                <a16:creationId xmlns:a16="http://schemas.microsoft.com/office/drawing/2014/main" id="{2CBA4FE2-2170-A475-1BE9-9D25674C9521}"/>
              </a:ext>
            </a:extLst>
          </p:cNvPr>
          <p:cNvSpPr txBox="1"/>
          <p:nvPr/>
        </p:nvSpPr>
        <p:spPr>
          <a:xfrm>
            <a:off x="7149395" y="1178587"/>
            <a:ext cx="4688378" cy="5324535"/>
          </a:xfrm>
          <a:prstGeom prst="rect">
            <a:avLst/>
          </a:prstGeom>
          <a:noFill/>
        </p:spPr>
        <p:txBody>
          <a:bodyPr wrap="square" rtlCol="0">
            <a:spAutoFit/>
          </a:bodyPr>
          <a:lstStyle/>
          <a:p>
            <a:r>
              <a:rPr lang="en-US" sz="1400" dirty="0">
                <a:solidFill>
                  <a:schemeClr val="tx1">
                    <a:lumMod val="50000"/>
                    <a:lumOff val="50000"/>
                  </a:schemeClr>
                </a:solidFill>
                <a:latin typeface="DejaVuSans"/>
              </a:rPr>
              <a:t>Population Stability Index (PSI) compares the distribution of a scoring variable (predicted probability) in scoring data set to a training data set that was used to develop the model. We answer the question ""How the current scoring is compared to the predicted probability from training data set ?". There are multiple uses of Population Stability Index (PSI). They are listed below - </a:t>
            </a:r>
          </a:p>
          <a:p>
            <a:r>
              <a:rPr lang="en-US" sz="1400" dirty="0">
                <a:solidFill>
                  <a:schemeClr val="tx1">
                    <a:lumMod val="50000"/>
                    <a:lumOff val="50000"/>
                  </a:schemeClr>
                </a:solidFill>
                <a:latin typeface="DejaVuSans"/>
              </a:rPr>
              <a:t>1. Model might be influenced by economic changes. Suppose you built a risk model during economic recession (year 2008) and you are using the same model to score datasets in year 2016. There is a high chance that various attributes of the model are changed drastically over last 8 years. It means it does not make sense to use this model anymore if features of the model are changed significantly. </a:t>
            </a:r>
          </a:p>
          <a:p>
            <a:r>
              <a:rPr lang="en-US" sz="1400" dirty="0">
                <a:solidFill>
                  <a:schemeClr val="tx1">
                    <a:lumMod val="50000"/>
                    <a:lumOff val="50000"/>
                  </a:schemeClr>
                </a:solidFill>
                <a:latin typeface="DejaVuSans"/>
              </a:rPr>
              <a:t>2. Change in product offerings due to internal policy changes. For example, one of your product are relaunched recently so attributes may behave differently as compared to attributes of your model. </a:t>
            </a:r>
          </a:p>
          <a:p>
            <a:r>
              <a:rPr lang="en-US" sz="1400" dirty="0">
                <a:solidFill>
                  <a:schemeClr val="tx1">
                    <a:lumMod val="50000"/>
                    <a:lumOff val="50000"/>
                  </a:schemeClr>
                </a:solidFill>
                <a:latin typeface="DejaVuSans"/>
              </a:rPr>
              <a:t>3. PSI can detect if any data integration or programming issues to run the scoring code. </a:t>
            </a:r>
          </a:p>
          <a:p>
            <a:r>
              <a:rPr lang="en-US" sz="1400" dirty="0">
                <a:solidFill>
                  <a:schemeClr val="tx1">
                    <a:lumMod val="50000"/>
                    <a:lumOff val="50000"/>
                  </a:schemeClr>
                </a:solidFill>
                <a:latin typeface="DejaVuSans"/>
              </a:rPr>
              <a:t>PSI = (% of records based on dependent variable in Scoring Dataset (A) - % of records based on dependent variable in Training Sample (B)) * In(A/ B) </a:t>
            </a:r>
          </a:p>
          <a:p>
            <a:endParaRPr lang="en-US" dirty="0"/>
          </a:p>
        </p:txBody>
      </p:sp>
      <p:pic>
        <p:nvPicPr>
          <p:cNvPr id="4" name="Picture 3">
            <a:extLst>
              <a:ext uri="{FF2B5EF4-FFF2-40B4-BE49-F238E27FC236}">
                <a16:creationId xmlns:a16="http://schemas.microsoft.com/office/drawing/2014/main" id="{1FF037AE-FB50-83A3-E360-121B248341D2}"/>
              </a:ext>
            </a:extLst>
          </p:cNvPr>
          <p:cNvPicPr>
            <a:picLocks noChangeAspect="1"/>
          </p:cNvPicPr>
          <p:nvPr/>
        </p:nvPicPr>
        <p:blipFill>
          <a:blip r:embed="rId3"/>
          <a:stretch>
            <a:fillRect/>
          </a:stretch>
        </p:blipFill>
        <p:spPr>
          <a:xfrm>
            <a:off x="222421" y="1879456"/>
            <a:ext cx="6577389" cy="1549544"/>
          </a:xfrm>
          <a:prstGeom prst="rect">
            <a:avLst/>
          </a:prstGeom>
        </p:spPr>
      </p:pic>
    </p:spTree>
    <p:extLst>
      <p:ext uri="{BB962C8B-B14F-4D97-AF65-F5344CB8AC3E}">
        <p14:creationId xmlns:p14="http://schemas.microsoft.com/office/powerpoint/2010/main" val="39089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4224</TotalTime>
  <Words>2474</Words>
  <Application>Microsoft Macintosh PowerPoint</Application>
  <PresentationFormat>Widescreen</PresentationFormat>
  <Paragraphs>167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Avenir Book</vt:lpstr>
      <vt:lpstr>Avenir Light</vt:lpstr>
      <vt:lpstr>Calibri</vt:lpstr>
      <vt:lpstr>Calibri Light</vt:lpstr>
      <vt:lpstr>DejaVuSans</vt:lpstr>
      <vt:lpstr>IBMPlexSans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Taposh Dutta-Roy</dc:creator>
  <cp:lastModifiedBy>Taposh Dutta-Roy</cp:lastModifiedBy>
  <cp:revision>5</cp:revision>
  <dcterms:created xsi:type="dcterms:W3CDTF">2022-10-27T06:51:21Z</dcterms:created>
  <dcterms:modified xsi:type="dcterms:W3CDTF">2022-10-30T05:15:38Z</dcterms:modified>
</cp:coreProperties>
</file>